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872" r:id="rId1"/>
  </p:sldMasterIdLst>
  <p:notesMasterIdLst>
    <p:notesMasterId r:id="rId24"/>
  </p:notesMasterIdLst>
  <p:handoutMasterIdLst>
    <p:handoutMasterId r:id="rId25"/>
  </p:handoutMasterIdLst>
  <p:sldIdLst>
    <p:sldId id="533" r:id="rId2"/>
    <p:sldId id="550" r:id="rId3"/>
    <p:sldId id="551" r:id="rId4"/>
    <p:sldId id="323" r:id="rId5"/>
    <p:sldId id="324" r:id="rId6"/>
    <p:sldId id="507" r:id="rId7"/>
    <p:sldId id="508" r:id="rId8"/>
    <p:sldId id="510" r:id="rId9"/>
    <p:sldId id="538" r:id="rId10"/>
    <p:sldId id="511" r:id="rId11"/>
    <p:sldId id="512" r:id="rId12"/>
    <p:sldId id="513" r:id="rId13"/>
    <p:sldId id="514" r:id="rId14"/>
    <p:sldId id="515" r:id="rId15"/>
    <p:sldId id="516" r:id="rId16"/>
    <p:sldId id="517" r:id="rId17"/>
    <p:sldId id="546" r:id="rId18"/>
    <p:sldId id="547" r:id="rId19"/>
    <p:sldId id="529" r:id="rId20"/>
    <p:sldId id="530" r:id="rId21"/>
    <p:sldId id="531" r:id="rId22"/>
    <p:sldId id="542" r:id="rId23"/>
  </p:sldIdLst>
  <p:sldSz cx="9144000" cy="6858000" type="screen4x3"/>
  <p:notesSz cx="6858000" cy="9296400"/>
  <p:defaultTextStyle>
    <a:defPPr>
      <a:defRPr lang="en-US"/>
    </a:defPPr>
    <a:lvl1pPr algn="l" rtl="0" eaLnBrk="0" fontAlgn="base" hangingPunct="0">
      <a:spcBef>
        <a:spcPct val="0"/>
      </a:spcBef>
      <a:spcAft>
        <a:spcPct val="0"/>
      </a:spcAft>
      <a:defRPr kern="1200">
        <a:solidFill>
          <a:schemeClr val="tx1"/>
        </a:solidFill>
        <a:latin typeface="Verdana"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itchFamily="34" charset="0"/>
        <a:ea typeface="+mn-ea"/>
        <a:cs typeface="+mn-cs"/>
      </a:defRPr>
    </a:lvl5pPr>
    <a:lvl6pPr marL="2286000" algn="l" defTabSz="914400" rtl="0" eaLnBrk="1" latinLnBrk="0" hangingPunct="1">
      <a:defRPr kern="1200">
        <a:solidFill>
          <a:schemeClr val="tx1"/>
        </a:solidFill>
        <a:latin typeface="Verdana" pitchFamily="34" charset="0"/>
        <a:ea typeface="+mn-ea"/>
        <a:cs typeface="+mn-cs"/>
      </a:defRPr>
    </a:lvl6pPr>
    <a:lvl7pPr marL="2743200" algn="l" defTabSz="914400" rtl="0" eaLnBrk="1" latinLnBrk="0" hangingPunct="1">
      <a:defRPr kern="1200">
        <a:solidFill>
          <a:schemeClr val="tx1"/>
        </a:solidFill>
        <a:latin typeface="Verdana" pitchFamily="34" charset="0"/>
        <a:ea typeface="+mn-ea"/>
        <a:cs typeface="+mn-cs"/>
      </a:defRPr>
    </a:lvl7pPr>
    <a:lvl8pPr marL="3200400" algn="l" defTabSz="914400" rtl="0" eaLnBrk="1" latinLnBrk="0" hangingPunct="1">
      <a:defRPr kern="1200">
        <a:solidFill>
          <a:schemeClr val="tx1"/>
        </a:solidFill>
        <a:latin typeface="Verdana" pitchFamily="34" charset="0"/>
        <a:ea typeface="+mn-ea"/>
        <a:cs typeface="+mn-cs"/>
      </a:defRPr>
    </a:lvl8pPr>
    <a:lvl9pPr marL="3657600" algn="l" defTabSz="914400" rtl="0" eaLnBrk="1" latinLnBrk="0" hangingPunct="1">
      <a:defRPr kern="1200">
        <a:solidFill>
          <a:schemeClr val="tx1"/>
        </a:solidFill>
        <a:latin typeface="Verdan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60E8DA-3CBB-4A77-8AAC-221BDAA91FF9}" v="9" dt="2026-02-04T05:31:35.7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31" autoAdjust="0"/>
    <p:restoredTop sz="93783" autoAdjust="0"/>
  </p:normalViewPr>
  <p:slideViewPr>
    <p:cSldViewPr>
      <p:cViewPr varScale="1">
        <p:scale>
          <a:sx n="92" d="100"/>
          <a:sy n="92" d="100"/>
        </p:scale>
        <p:origin x="1133" y="72"/>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nem Demirci" userId="f53c7ad0-2bac-4572-a80e-d57ba0c4f37e" providerId="ADAL" clId="{5B961F9E-096F-4ED6-A310-5A388439E3BA}"/>
    <pc:docChg chg="undo custSel addSld delSld modSld">
      <pc:chgData name="Sinem Demirci" userId="f53c7ad0-2bac-4572-a80e-d57ba0c4f37e" providerId="ADAL" clId="{5B961F9E-096F-4ED6-A310-5A388439E3BA}" dt="2026-02-04T05:32:40.985" v="108" actId="20577"/>
      <pc:docMkLst>
        <pc:docMk/>
      </pc:docMkLst>
      <pc:sldChg chg="modSp mod">
        <pc:chgData name="Sinem Demirci" userId="f53c7ad0-2bac-4572-a80e-d57ba0c4f37e" providerId="ADAL" clId="{5B961F9E-096F-4ED6-A310-5A388439E3BA}" dt="2026-02-04T05:31:22.573" v="82" actId="20577"/>
        <pc:sldMkLst>
          <pc:docMk/>
          <pc:sldMk cId="451384986" sldId="508"/>
        </pc:sldMkLst>
        <pc:spChg chg="mod">
          <ac:chgData name="Sinem Demirci" userId="f53c7ad0-2bac-4572-a80e-d57ba0c4f37e" providerId="ADAL" clId="{5B961F9E-096F-4ED6-A310-5A388439E3BA}" dt="2026-02-04T05:31:22.573" v="82" actId="20577"/>
          <ac:spMkLst>
            <pc:docMk/>
            <pc:sldMk cId="451384986" sldId="508"/>
            <ac:spMk id="8" creationId="{BDE76846-D004-4064-9D80-89642D7A47CF}"/>
          </ac:spMkLst>
        </pc:spChg>
      </pc:sldChg>
      <pc:sldChg chg="modSp">
        <pc:chgData name="Sinem Demirci" userId="f53c7ad0-2bac-4572-a80e-d57ba0c4f37e" providerId="ADAL" clId="{5B961F9E-096F-4ED6-A310-5A388439E3BA}" dt="2026-02-04T05:31:35.713" v="85" actId="20577"/>
        <pc:sldMkLst>
          <pc:docMk/>
          <pc:sldMk cId="4085247593" sldId="510"/>
        </pc:sldMkLst>
        <pc:spChg chg="mod">
          <ac:chgData name="Sinem Demirci" userId="f53c7ad0-2bac-4572-a80e-d57ba0c4f37e" providerId="ADAL" clId="{5B961F9E-096F-4ED6-A310-5A388439E3BA}" dt="2026-02-04T05:31:35.713" v="85" actId="20577"/>
          <ac:spMkLst>
            <pc:docMk/>
            <pc:sldMk cId="4085247593" sldId="510"/>
            <ac:spMk id="8" creationId="{BDE76846-D004-4064-9D80-89642D7A47CF}"/>
          </ac:spMkLst>
        </pc:spChg>
      </pc:sldChg>
      <pc:sldChg chg="modSp mod">
        <pc:chgData name="Sinem Demirci" userId="f53c7ad0-2bac-4572-a80e-d57ba0c4f37e" providerId="ADAL" clId="{5B961F9E-096F-4ED6-A310-5A388439E3BA}" dt="2026-02-04T05:32:40.985" v="108" actId="20577"/>
        <pc:sldMkLst>
          <pc:docMk/>
          <pc:sldMk cId="3520445984" sldId="533"/>
        </pc:sldMkLst>
        <pc:spChg chg="mod">
          <ac:chgData name="Sinem Demirci" userId="f53c7ad0-2bac-4572-a80e-d57ba0c4f37e" providerId="ADAL" clId="{5B961F9E-096F-4ED6-A310-5A388439E3BA}" dt="2026-02-04T05:14:11.661" v="4" actId="20577"/>
          <ac:spMkLst>
            <pc:docMk/>
            <pc:sldMk cId="3520445984" sldId="533"/>
            <ac:spMk id="2050" creationId="{00000000-0000-0000-0000-000000000000}"/>
          </ac:spMkLst>
        </pc:spChg>
        <pc:spChg chg="mod">
          <ac:chgData name="Sinem Demirci" userId="f53c7ad0-2bac-4572-a80e-d57ba0c4f37e" providerId="ADAL" clId="{5B961F9E-096F-4ED6-A310-5A388439E3BA}" dt="2026-02-04T05:32:40.985" v="108" actId="20577"/>
          <ac:spMkLst>
            <pc:docMk/>
            <pc:sldMk cId="3520445984" sldId="533"/>
            <ac:spMk id="2051" creationId="{00000000-0000-0000-0000-000000000000}"/>
          </ac:spMkLst>
        </pc:spChg>
      </pc:sldChg>
      <pc:sldChg chg="addSp modSp mod">
        <pc:chgData name="Sinem Demirci" userId="f53c7ad0-2bac-4572-a80e-d57ba0c4f37e" providerId="ADAL" clId="{5B961F9E-096F-4ED6-A310-5A388439E3BA}" dt="2026-02-04T05:32:05.996" v="91" actId="14100"/>
        <pc:sldMkLst>
          <pc:docMk/>
          <pc:sldMk cId="1157756333" sldId="538"/>
        </pc:sldMkLst>
        <pc:spChg chg="add mod">
          <ac:chgData name="Sinem Demirci" userId="f53c7ad0-2bac-4572-a80e-d57ba0c4f37e" providerId="ADAL" clId="{5B961F9E-096F-4ED6-A310-5A388439E3BA}" dt="2026-02-04T05:32:05.996" v="91" actId="14100"/>
          <ac:spMkLst>
            <pc:docMk/>
            <pc:sldMk cId="1157756333" sldId="538"/>
            <ac:spMk id="4" creationId="{924AF509-5FB8-9165-FB46-7ABFA4124493}"/>
          </ac:spMkLst>
        </pc:spChg>
      </pc:sldChg>
      <pc:sldChg chg="del">
        <pc:chgData name="Sinem Demirci" userId="f53c7ad0-2bac-4572-a80e-d57ba0c4f37e" providerId="ADAL" clId="{5B961F9E-096F-4ED6-A310-5A388439E3BA}" dt="2026-02-04T05:30:38.141" v="75" actId="47"/>
        <pc:sldMkLst>
          <pc:docMk/>
          <pc:sldMk cId="4233335747" sldId="548"/>
        </pc:sldMkLst>
      </pc:sldChg>
      <pc:sldChg chg="del">
        <pc:chgData name="Sinem Demirci" userId="f53c7ad0-2bac-4572-a80e-d57ba0c4f37e" providerId="ADAL" clId="{5B961F9E-096F-4ED6-A310-5A388439E3BA}" dt="2026-02-04T05:30:40.814" v="76" actId="47"/>
        <pc:sldMkLst>
          <pc:docMk/>
          <pc:sldMk cId="3501160433" sldId="549"/>
        </pc:sldMkLst>
      </pc:sldChg>
      <pc:sldChg chg="addSp delSp modSp new mod modClrScheme chgLayout">
        <pc:chgData name="Sinem Demirci" userId="f53c7ad0-2bac-4572-a80e-d57ba0c4f37e" providerId="ADAL" clId="{5B961F9E-096F-4ED6-A310-5A388439E3BA}" dt="2026-02-04T05:30:19.558" v="74" actId="403"/>
        <pc:sldMkLst>
          <pc:docMk/>
          <pc:sldMk cId="59888615" sldId="550"/>
        </pc:sldMkLst>
        <pc:spChg chg="del mod ord">
          <ac:chgData name="Sinem Demirci" userId="f53c7ad0-2bac-4572-a80e-d57ba0c4f37e" providerId="ADAL" clId="{5B961F9E-096F-4ED6-A310-5A388439E3BA}" dt="2026-02-04T05:29:28.437" v="29" actId="478"/>
          <ac:spMkLst>
            <pc:docMk/>
            <pc:sldMk cId="59888615" sldId="550"/>
            <ac:spMk id="2" creationId="{5ED4DF22-768F-F26A-64C7-EDB194A332C7}"/>
          </ac:spMkLst>
        </pc:spChg>
        <pc:spChg chg="del mod ord">
          <ac:chgData name="Sinem Demirci" userId="f53c7ad0-2bac-4572-a80e-d57ba0c4f37e" providerId="ADAL" clId="{5B961F9E-096F-4ED6-A310-5A388439E3BA}" dt="2026-02-04T05:28:34.147" v="11" actId="700"/>
          <ac:spMkLst>
            <pc:docMk/>
            <pc:sldMk cId="59888615" sldId="550"/>
            <ac:spMk id="3" creationId="{0F57B850-86BA-BF4B-0127-6B2FB080F3A1}"/>
          </ac:spMkLst>
        </pc:spChg>
        <pc:spChg chg="add del">
          <ac:chgData name="Sinem Demirci" userId="f53c7ad0-2bac-4572-a80e-d57ba0c4f37e" providerId="ADAL" clId="{5B961F9E-096F-4ED6-A310-5A388439E3BA}" dt="2026-02-04T05:28:12.906" v="7" actId="22"/>
          <ac:spMkLst>
            <pc:docMk/>
            <pc:sldMk cId="59888615" sldId="550"/>
            <ac:spMk id="5" creationId="{C0168652-839C-D30E-6B3C-4FF7D3115E8D}"/>
          </ac:spMkLst>
        </pc:spChg>
        <pc:spChg chg="add mod ord">
          <ac:chgData name="Sinem Demirci" userId="f53c7ad0-2bac-4572-a80e-d57ba0c4f37e" providerId="ADAL" clId="{5B961F9E-096F-4ED6-A310-5A388439E3BA}" dt="2026-02-04T05:30:19.558" v="74" actId="403"/>
          <ac:spMkLst>
            <pc:docMk/>
            <pc:sldMk cId="59888615" sldId="550"/>
            <ac:spMk id="6" creationId="{D0AE6F41-631C-47DC-6E89-57343391E011}"/>
          </ac:spMkLst>
        </pc:spChg>
        <pc:spChg chg="add mod ord">
          <ac:chgData name="Sinem Demirci" userId="f53c7ad0-2bac-4572-a80e-d57ba0c4f37e" providerId="ADAL" clId="{5B961F9E-096F-4ED6-A310-5A388439E3BA}" dt="2026-02-04T05:30:18.143" v="72" actId="27636"/>
          <ac:spMkLst>
            <pc:docMk/>
            <pc:sldMk cId="59888615" sldId="550"/>
            <ac:spMk id="7" creationId="{4FEDCEF6-538E-DEF8-FE17-FA96DBD7F9CA}"/>
          </ac:spMkLst>
        </pc:spChg>
        <pc:spChg chg="add mod ord">
          <ac:chgData name="Sinem Demirci" userId="f53c7ad0-2bac-4572-a80e-d57ba0c4f37e" providerId="ADAL" clId="{5B961F9E-096F-4ED6-A310-5A388439E3BA}" dt="2026-02-04T05:29:42.689" v="35" actId="403"/>
          <ac:spMkLst>
            <pc:docMk/>
            <pc:sldMk cId="59888615" sldId="550"/>
            <ac:spMk id="8" creationId="{8D6647F6-C633-8289-4A28-44205932129E}"/>
          </ac:spMkLst>
        </pc:spChg>
        <pc:spChg chg="add mod ord">
          <ac:chgData name="Sinem Demirci" userId="f53c7ad0-2bac-4572-a80e-d57ba0c4f37e" providerId="ADAL" clId="{5B961F9E-096F-4ED6-A310-5A388439E3BA}" dt="2026-02-04T05:29:39.041" v="33" actId="403"/>
          <ac:spMkLst>
            <pc:docMk/>
            <pc:sldMk cId="59888615" sldId="550"/>
            <ac:spMk id="9" creationId="{2B27AA80-6F7F-56D5-0B94-B3C9FF51705C}"/>
          </ac:spMkLst>
        </pc:spChg>
      </pc:sldChg>
      <pc:sldChg chg="addSp delSp modSp new mod modClrScheme chgLayout">
        <pc:chgData name="Sinem Demirci" userId="f53c7ad0-2bac-4572-a80e-d57ba0c4f37e" providerId="ADAL" clId="{5B961F9E-096F-4ED6-A310-5A388439E3BA}" dt="2026-02-04T05:30:59.568" v="80" actId="26606"/>
        <pc:sldMkLst>
          <pc:docMk/>
          <pc:sldMk cId="3468495259" sldId="551"/>
        </pc:sldMkLst>
        <pc:spChg chg="del mod ord">
          <ac:chgData name="Sinem Demirci" userId="f53c7ad0-2bac-4572-a80e-d57ba0c4f37e" providerId="ADAL" clId="{5B961F9E-096F-4ED6-A310-5A388439E3BA}" dt="2026-02-04T05:30:46.790" v="78" actId="700"/>
          <ac:spMkLst>
            <pc:docMk/>
            <pc:sldMk cId="3468495259" sldId="551"/>
            <ac:spMk id="2" creationId="{4A0A7CD0-A627-4348-6D32-2C73CB3EB86C}"/>
          </ac:spMkLst>
        </pc:spChg>
        <pc:spChg chg="del">
          <ac:chgData name="Sinem Demirci" userId="f53c7ad0-2bac-4572-a80e-d57ba0c4f37e" providerId="ADAL" clId="{5B961F9E-096F-4ED6-A310-5A388439E3BA}" dt="2026-02-04T05:30:46.790" v="78" actId="700"/>
          <ac:spMkLst>
            <pc:docMk/>
            <pc:sldMk cId="3468495259" sldId="551"/>
            <ac:spMk id="3" creationId="{784A63BC-40D3-B4E7-90FF-E86E0447752D}"/>
          </ac:spMkLst>
        </pc:spChg>
        <pc:spChg chg="del mod ord">
          <ac:chgData name="Sinem Demirci" userId="f53c7ad0-2bac-4572-a80e-d57ba0c4f37e" providerId="ADAL" clId="{5B961F9E-096F-4ED6-A310-5A388439E3BA}" dt="2026-02-04T05:30:46.790" v="78" actId="700"/>
          <ac:spMkLst>
            <pc:docMk/>
            <pc:sldMk cId="3468495259" sldId="551"/>
            <ac:spMk id="4" creationId="{777796DE-D51F-2080-F4D6-9FA92F614F38}"/>
          </ac:spMkLst>
        </pc:spChg>
        <pc:spChg chg="del">
          <ac:chgData name="Sinem Demirci" userId="f53c7ad0-2bac-4572-a80e-d57ba0c4f37e" providerId="ADAL" clId="{5B961F9E-096F-4ED6-A310-5A388439E3BA}" dt="2026-02-04T05:30:46.790" v="78" actId="700"/>
          <ac:spMkLst>
            <pc:docMk/>
            <pc:sldMk cId="3468495259" sldId="551"/>
            <ac:spMk id="5" creationId="{85B13C0B-D10E-3CDA-61C0-539A9697F029}"/>
          </ac:spMkLst>
        </pc:spChg>
        <pc:spChg chg="del">
          <ac:chgData name="Sinem Demirci" userId="f53c7ad0-2bac-4572-a80e-d57ba0c4f37e" providerId="ADAL" clId="{5B961F9E-096F-4ED6-A310-5A388439E3BA}" dt="2026-02-04T05:30:46.790" v="78" actId="700"/>
          <ac:spMkLst>
            <pc:docMk/>
            <pc:sldMk cId="3468495259" sldId="551"/>
            <ac:spMk id="6" creationId="{EDA87AD5-74B7-B570-DCE9-C5FC880642E0}"/>
          </ac:spMkLst>
        </pc:spChg>
        <pc:spChg chg="add del mod ord">
          <ac:chgData name="Sinem Demirci" userId="f53c7ad0-2bac-4572-a80e-d57ba0c4f37e" providerId="ADAL" clId="{5B961F9E-096F-4ED6-A310-5A388439E3BA}" dt="2026-02-04T05:30:59.568" v="80" actId="26606"/>
          <ac:spMkLst>
            <pc:docMk/>
            <pc:sldMk cId="3468495259" sldId="551"/>
            <ac:spMk id="7" creationId="{F6206D6C-CEAB-A04A-6547-B6CD316056B3}"/>
          </ac:spMkLst>
        </pc:spChg>
        <pc:spChg chg="add del mod ord">
          <ac:chgData name="Sinem Demirci" userId="f53c7ad0-2bac-4572-a80e-d57ba0c4f37e" providerId="ADAL" clId="{5B961F9E-096F-4ED6-A310-5A388439E3BA}" dt="2026-02-04T05:30:59.568" v="80" actId="26606"/>
          <ac:spMkLst>
            <pc:docMk/>
            <pc:sldMk cId="3468495259" sldId="551"/>
            <ac:spMk id="8" creationId="{A7EF79B7-9EF4-CD4D-BB54-2805E7B3DFAE}"/>
          </ac:spMkLst>
        </pc:spChg>
        <pc:picChg chg="add mod">
          <ac:chgData name="Sinem Demirci" userId="f53c7ad0-2bac-4572-a80e-d57ba0c4f37e" providerId="ADAL" clId="{5B961F9E-096F-4ED6-A310-5A388439E3BA}" dt="2026-02-04T05:30:59.568" v="80" actId="26606"/>
          <ac:picMkLst>
            <pc:docMk/>
            <pc:sldMk cId="3468495259" sldId="551"/>
            <ac:picMk id="1026" creationId="{00CBEFAA-97C0-0C6B-0840-03179BA670F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64820"/>
          </a:xfrm>
          <a:prstGeom prst="rect">
            <a:avLst/>
          </a:prstGeom>
        </p:spPr>
        <p:txBody>
          <a:bodyPr vert="horz" lIns="91440" tIns="45720" rIns="91440" bIns="45720" rtlCol="0"/>
          <a:lstStyle>
            <a:lvl1pPr algn="r">
              <a:defRPr sz="1200"/>
            </a:lvl1pPr>
          </a:lstStyle>
          <a:p>
            <a:fld id="{691AEB55-0527-4899-A502-D049BB07DB90}" type="datetimeFigureOut">
              <a:rPr lang="en-US" smtClean="0"/>
              <a:t>2/3/2026</a:t>
            </a:fld>
            <a:endParaRPr lang="en-US"/>
          </a:p>
        </p:txBody>
      </p:sp>
      <p:sp>
        <p:nvSpPr>
          <p:cNvPr id="4" name="Footer Placeholder 3"/>
          <p:cNvSpPr>
            <a:spLocks noGrp="1"/>
          </p:cNvSpPr>
          <p:nvPr>
            <p:ph type="ftr" sz="quarter" idx="2"/>
          </p:nvPr>
        </p:nvSpPr>
        <p:spPr>
          <a:xfrm>
            <a:off x="0" y="8829967"/>
            <a:ext cx="2971800" cy="46482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829967"/>
            <a:ext cx="2971800" cy="464820"/>
          </a:xfrm>
          <a:prstGeom prst="rect">
            <a:avLst/>
          </a:prstGeom>
        </p:spPr>
        <p:txBody>
          <a:bodyPr vert="horz" lIns="91440" tIns="45720" rIns="91440" bIns="45720" rtlCol="0" anchor="b"/>
          <a:lstStyle>
            <a:lvl1pPr algn="r">
              <a:defRPr sz="1200"/>
            </a:lvl1pPr>
          </a:lstStyle>
          <a:p>
            <a:fld id="{A212AEA8-EA39-46FF-82EF-B85B823A60A1}" type="slidenum">
              <a:rPr lang="en-US" smtClean="0"/>
              <a:t>‹#›</a:t>
            </a:fld>
            <a:endParaRPr lang="en-US"/>
          </a:p>
        </p:txBody>
      </p:sp>
    </p:spTree>
    <p:extLst>
      <p:ext uri="{BB962C8B-B14F-4D97-AF65-F5344CB8AC3E}">
        <p14:creationId xmlns:p14="http://schemas.microsoft.com/office/powerpoint/2010/main" val="23537169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64820"/>
          </a:xfrm>
          <a:prstGeom prst="rect">
            <a:avLst/>
          </a:prstGeom>
        </p:spPr>
        <p:txBody>
          <a:bodyPr vert="horz" lIns="91440" tIns="45720" rIns="91440" bIns="45720" rtlCol="0"/>
          <a:lstStyle>
            <a:lvl1pPr algn="r">
              <a:defRPr sz="1200"/>
            </a:lvl1pPr>
          </a:lstStyle>
          <a:p>
            <a:fld id="{11021223-C600-4772-B8C5-2DFF23903D38}" type="datetimeFigureOut">
              <a:rPr lang="en-US" smtClean="0"/>
              <a:t>2/3/2026</a:t>
            </a:fld>
            <a:endParaRPr lang="en-US"/>
          </a:p>
        </p:txBody>
      </p:sp>
      <p:sp>
        <p:nvSpPr>
          <p:cNvPr id="4" name="Slide Image Placeholder 3"/>
          <p:cNvSpPr>
            <a:spLocks noGrp="1" noRot="1" noChangeAspect="1"/>
          </p:cNvSpPr>
          <p:nvPr>
            <p:ph type="sldImg" idx="2"/>
          </p:nvPr>
        </p:nvSpPr>
        <p:spPr>
          <a:xfrm>
            <a:off x="1104900" y="696913"/>
            <a:ext cx="46482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15790"/>
            <a:ext cx="5486400" cy="418338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2971800" cy="46482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829967"/>
            <a:ext cx="2971800" cy="464820"/>
          </a:xfrm>
          <a:prstGeom prst="rect">
            <a:avLst/>
          </a:prstGeom>
        </p:spPr>
        <p:txBody>
          <a:bodyPr vert="horz" lIns="91440" tIns="45720" rIns="91440" bIns="45720" rtlCol="0" anchor="b"/>
          <a:lstStyle>
            <a:lvl1pPr algn="r">
              <a:defRPr sz="1200"/>
            </a:lvl1pPr>
          </a:lstStyle>
          <a:p>
            <a:fld id="{573CBCA7-DF3F-4A4B-9D18-85251BDDAB89}" type="slidenum">
              <a:rPr lang="en-US" smtClean="0"/>
              <a:t>‹#›</a:t>
            </a:fld>
            <a:endParaRPr lang="en-US"/>
          </a:p>
        </p:txBody>
      </p:sp>
    </p:spTree>
    <p:extLst>
      <p:ext uri="{BB962C8B-B14F-4D97-AF65-F5344CB8AC3E}">
        <p14:creationId xmlns:p14="http://schemas.microsoft.com/office/powerpoint/2010/main" val="666367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4034086-DE45-4823-A768-231E158D62A0}"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F89797D-1017-4114-BA7B-03FB5B9D6F61}"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58F7AA8-2BB5-4AB8-AC49-C79B11D66A01}"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4EC8476-F028-40C2-AFBC-E675E9B4C4F7}"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DDA95F9-09FA-4BE1-AC40-059C462E401D}"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E37F890-92F5-4D07-98A7-1863874B7B65}"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6FCF55-C298-483F-B05E-91FAD6505943}"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213D331-2FF4-4F2D-8BE8-5973D18C9AB8}" type="slidenum">
              <a:rPr lang="en-US" smtClean="0"/>
              <a:pPr/>
              <a:t>‹#›</a:t>
            </a:fld>
            <a:endParaRPr lang="en-US" dirty="0"/>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endParaRPr lang="en-US" dirty="0"/>
          </a:p>
        </p:txBody>
      </p:sp>
      <p:sp>
        <p:nvSpPr>
          <p:cNvPr id="9" name="Slide Number Placeholder 8"/>
          <p:cNvSpPr>
            <a:spLocks noGrp="1"/>
          </p:cNvSpPr>
          <p:nvPr>
            <p:ph type="sldNum" sz="quarter" idx="11"/>
          </p:nvPr>
        </p:nvSpPr>
        <p:spPr/>
        <p:txBody>
          <a:bodyPr/>
          <a:lstStyle/>
          <a:p>
            <a:fld id="{A2115805-D457-473D-A3E9-0CC2ADFCC377}" type="slidenum">
              <a:rPr lang="en-US" smtClean="0"/>
              <a:pPr/>
              <a:t>‹#›</a:t>
            </a:fld>
            <a:endParaRPr lang="en-US" dirty="0"/>
          </a:p>
        </p:txBody>
      </p:sp>
      <p:sp>
        <p:nvSpPr>
          <p:cNvPr id="10" name="Footer Placeholder 9"/>
          <p:cNvSpPr>
            <a:spLocks noGrp="1"/>
          </p:cNvSpPr>
          <p:nvPr>
            <p:ph type="ftr" sz="quarter" idx="12"/>
          </p:nvPr>
        </p:nvSpPr>
        <p:spPr/>
        <p:txBody>
          <a:bodyPr/>
          <a:lstStyle/>
          <a:p>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B062378-3090-4FAA-8B04-66DCEB740DE1}"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C8B3894-93FB-4EA2-9909-CD31D0CACA92}"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1F046078-240A-4A58-82ED-21A93EBBF508}" type="slidenum">
              <a:rPr lang="en-US" smtClean="0"/>
              <a:pPr/>
              <a:t>‹#›</a:t>
            </a:fld>
            <a:endParaRPr lang="en-US" dirty="0"/>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dirty="0"/>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endParaRPr lang="en-US" dirty="0"/>
          </a:p>
        </p:txBody>
      </p:sp>
    </p:spTree>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 id="2147483879" r:id="rId7"/>
    <p:sldLayoutId id="2147483880" r:id="rId8"/>
    <p:sldLayoutId id="2147483881" r:id="rId9"/>
    <p:sldLayoutId id="2147483882" r:id="rId10"/>
    <p:sldLayoutId id="2147483883"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rossmanchance.com/applets/2021/tbia/TBIA.html"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914400" y="3962400"/>
            <a:ext cx="5410200" cy="914400"/>
          </a:xfrm>
        </p:spPr>
        <p:txBody>
          <a:bodyPr>
            <a:normAutofit/>
          </a:bodyPr>
          <a:lstStyle/>
          <a:p>
            <a:r>
              <a:rPr lang="en-US" sz="3200" b="1" i="1" dirty="0">
                <a:solidFill>
                  <a:schemeClr val="folHlink"/>
                </a:solidFill>
                <a:latin typeface="Verdana" pitchFamily="34" charset="0"/>
              </a:rPr>
              <a:t>Week 5 Lecture 3</a:t>
            </a:r>
          </a:p>
        </p:txBody>
      </p:sp>
      <p:sp>
        <p:nvSpPr>
          <p:cNvPr id="2051" name="Rectangle 3"/>
          <p:cNvSpPr>
            <a:spLocks noGrp="1" noChangeArrowheads="1"/>
          </p:cNvSpPr>
          <p:nvPr>
            <p:ph type="subTitle" idx="1"/>
          </p:nvPr>
        </p:nvSpPr>
        <p:spPr>
          <a:xfrm>
            <a:off x="762000" y="1600200"/>
            <a:ext cx="6400800" cy="2743200"/>
          </a:xfrm>
        </p:spPr>
        <p:txBody>
          <a:bodyPr>
            <a:normAutofit/>
          </a:bodyPr>
          <a:lstStyle/>
          <a:p>
            <a:r>
              <a:rPr lang="en-US" sz="4800" dirty="0"/>
              <a:t>Test for a Single Mean: One Sample t-test</a:t>
            </a:r>
          </a:p>
        </p:txBody>
      </p:sp>
      <p:sp>
        <p:nvSpPr>
          <p:cNvPr id="2" name="Rectangle 2">
            <a:extLst>
              <a:ext uri="{FF2B5EF4-FFF2-40B4-BE49-F238E27FC236}">
                <a16:creationId xmlns:a16="http://schemas.microsoft.com/office/drawing/2014/main" id="{B6E70F71-96C1-0747-152F-AC07E3476731}"/>
              </a:ext>
            </a:extLst>
          </p:cNvPr>
          <p:cNvSpPr txBox="1">
            <a:spLocks noChangeArrowheads="1"/>
          </p:cNvSpPr>
          <p:nvPr/>
        </p:nvSpPr>
        <p:spPr>
          <a:xfrm>
            <a:off x="5181600" y="6400800"/>
            <a:ext cx="3276600" cy="430306"/>
          </a:xfrm>
          <a:prstGeom prst="rect">
            <a:avLst/>
          </a:prstGeom>
        </p:spPr>
        <p:txBody>
          <a:bodyPr vert="horz" lIns="91440" tIns="45720" rIns="91440" bIns="45720" rtlCol="0" anchor="b">
            <a:noAutofit/>
          </a:bodyPr>
          <a:lstStyle>
            <a:lvl1pPr algn="l" defTabSz="914400" rtl="0" eaLnBrk="1" latinLnBrk="0" hangingPunct="1">
              <a:spcBef>
                <a:spcPct val="0"/>
              </a:spcBef>
              <a:buNone/>
              <a:defRPr sz="6600" kern="1200" cap="none" spc="-100" baseline="0">
                <a:ln>
                  <a:noFill/>
                </a:ln>
                <a:solidFill>
                  <a:schemeClr val="tx2"/>
                </a:solidFill>
                <a:effectLst/>
                <a:latin typeface="+mj-lt"/>
                <a:ea typeface="+mj-ea"/>
                <a:cs typeface="+mj-cs"/>
              </a:defRPr>
            </a:lvl1pPr>
          </a:lstStyle>
          <a:p>
            <a:pPr algn="r" fontAlgn="auto">
              <a:spcAft>
                <a:spcPts val="0"/>
              </a:spcAft>
            </a:pPr>
            <a:r>
              <a:rPr lang="en-US" sz="1050" i="1">
                <a:latin typeface="Verdana" pitchFamily="34" charset="0"/>
              </a:rPr>
              <a:t>Jill VanderStoep</a:t>
            </a:r>
            <a:br>
              <a:rPr lang="en-US" sz="1050" i="1">
                <a:latin typeface="Verdana" pitchFamily="34" charset="0"/>
              </a:rPr>
            </a:br>
            <a:r>
              <a:rPr lang="en-US" sz="1050" i="1">
                <a:latin typeface="Verdana" pitchFamily="34" charset="0"/>
              </a:rPr>
              <a:t>Hope College – Holland, MI</a:t>
            </a:r>
            <a:endParaRPr lang="en-US" sz="1050" i="1" dirty="0">
              <a:latin typeface="Verdana" pitchFamily="34" charset="0"/>
            </a:endParaRPr>
          </a:p>
        </p:txBody>
      </p:sp>
    </p:spTree>
    <p:extLst>
      <p:ext uri="{BB962C8B-B14F-4D97-AF65-F5344CB8AC3E}">
        <p14:creationId xmlns:p14="http://schemas.microsoft.com/office/powerpoint/2010/main" val="3520445984"/>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8D6647F6-C633-8289-4A28-44205932129E}"/>
              </a:ext>
            </a:extLst>
          </p:cNvPr>
          <p:cNvSpPr>
            <a:spLocks noGrp="1"/>
          </p:cNvSpPr>
          <p:nvPr>
            <p:ph type="body" idx="1"/>
          </p:nvPr>
        </p:nvSpPr>
        <p:spPr>
          <a:xfrm>
            <a:off x="457200" y="609600"/>
            <a:ext cx="3657600" cy="639762"/>
          </a:xfrm>
        </p:spPr>
        <p:txBody>
          <a:bodyPr/>
          <a:lstStyle/>
          <a:p>
            <a:r>
              <a:rPr lang="en-US" sz="2800" dirty="0"/>
              <a:t>Hypothesis Testing</a:t>
            </a:r>
          </a:p>
        </p:txBody>
      </p:sp>
      <p:sp>
        <p:nvSpPr>
          <p:cNvPr id="6" name="Content Placeholder 5">
            <a:extLst>
              <a:ext uri="{FF2B5EF4-FFF2-40B4-BE49-F238E27FC236}">
                <a16:creationId xmlns:a16="http://schemas.microsoft.com/office/drawing/2014/main" id="{D0AE6F41-631C-47DC-6E89-57343391E011}"/>
              </a:ext>
            </a:extLst>
          </p:cNvPr>
          <p:cNvSpPr>
            <a:spLocks noGrp="1"/>
          </p:cNvSpPr>
          <p:nvPr>
            <p:ph sz="half" idx="2"/>
          </p:nvPr>
        </p:nvSpPr>
        <p:spPr>
          <a:xfrm>
            <a:off x="457200" y="1600200"/>
            <a:ext cx="4114800" cy="4648200"/>
          </a:xfrm>
        </p:spPr>
        <p:txBody>
          <a:bodyPr>
            <a:normAutofit fontScale="92500"/>
          </a:bodyPr>
          <a:lstStyle/>
          <a:p>
            <a:r>
              <a:rPr lang="en-US" sz="2000" b="1" dirty="0"/>
              <a:t>Aim: </a:t>
            </a:r>
            <a:r>
              <a:rPr lang="en-US" sz="2000" dirty="0"/>
              <a:t>Evaluate the strength of evidence against the null hypothesis</a:t>
            </a:r>
          </a:p>
          <a:p>
            <a:r>
              <a:rPr lang="en-US" sz="2000" b="1" dirty="0"/>
              <a:t>Steps:</a:t>
            </a:r>
            <a:endParaRPr lang="en-US" sz="2000" dirty="0"/>
          </a:p>
          <a:p>
            <a:pPr fontAlgn="base"/>
            <a:r>
              <a:rPr lang="en-US" sz="2000" dirty="0"/>
              <a:t>Write null &amp; alternative hypotheses</a:t>
            </a:r>
          </a:p>
          <a:p>
            <a:pPr fontAlgn="base"/>
            <a:r>
              <a:rPr lang="en-US" sz="2000" dirty="0"/>
              <a:t>Test the null hypothesis (2 options)</a:t>
            </a:r>
          </a:p>
          <a:p>
            <a:pPr lvl="1" fontAlgn="base"/>
            <a:r>
              <a:rPr lang="en-US" dirty="0"/>
              <a:t>Simulation based approach</a:t>
            </a:r>
          </a:p>
          <a:p>
            <a:pPr lvl="1" fontAlgn="base"/>
            <a:r>
              <a:rPr lang="en-US" dirty="0"/>
              <a:t>Theory based approach</a:t>
            </a:r>
          </a:p>
          <a:p>
            <a:pPr fontAlgn="base"/>
            <a:r>
              <a:rPr lang="en-US" sz="2000" dirty="0"/>
              <a:t>Get the null distribution</a:t>
            </a:r>
          </a:p>
          <a:p>
            <a:pPr fontAlgn="base"/>
            <a:r>
              <a:rPr lang="en-US" sz="2000" dirty="0"/>
              <a:t>Find p-value and/or standardized statistic</a:t>
            </a:r>
          </a:p>
          <a:p>
            <a:pPr fontAlgn="base"/>
            <a:r>
              <a:rPr lang="en-US" sz="2000" dirty="0"/>
              <a:t>Evaluate your evidence against the null/in favor of alternative hypothesis</a:t>
            </a:r>
          </a:p>
        </p:txBody>
      </p:sp>
      <p:sp>
        <p:nvSpPr>
          <p:cNvPr id="9" name="Text Placeholder 8">
            <a:extLst>
              <a:ext uri="{FF2B5EF4-FFF2-40B4-BE49-F238E27FC236}">
                <a16:creationId xmlns:a16="http://schemas.microsoft.com/office/drawing/2014/main" id="{2B27AA80-6F7F-56D5-0B94-B3C9FF51705C}"/>
              </a:ext>
            </a:extLst>
          </p:cNvPr>
          <p:cNvSpPr>
            <a:spLocks noGrp="1"/>
          </p:cNvSpPr>
          <p:nvPr>
            <p:ph type="body" sz="quarter" idx="3"/>
          </p:nvPr>
        </p:nvSpPr>
        <p:spPr>
          <a:xfrm>
            <a:off x="4404360" y="609600"/>
            <a:ext cx="3657600" cy="639762"/>
          </a:xfrm>
        </p:spPr>
        <p:txBody>
          <a:bodyPr/>
          <a:lstStyle/>
          <a:p>
            <a:r>
              <a:rPr lang="en-US" sz="2800" dirty="0"/>
              <a:t>Confidence Interval</a:t>
            </a:r>
          </a:p>
        </p:txBody>
      </p:sp>
      <p:sp>
        <p:nvSpPr>
          <p:cNvPr id="7" name="Content Placeholder 6">
            <a:extLst>
              <a:ext uri="{FF2B5EF4-FFF2-40B4-BE49-F238E27FC236}">
                <a16:creationId xmlns:a16="http://schemas.microsoft.com/office/drawing/2014/main" id="{4FEDCEF6-538E-DEF8-FE17-FA96DBD7F9CA}"/>
              </a:ext>
            </a:extLst>
          </p:cNvPr>
          <p:cNvSpPr>
            <a:spLocks noGrp="1"/>
          </p:cNvSpPr>
          <p:nvPr>
            <p:ph sz="quarter" idx="4"/>
          </p:nvPr>
        </p:nvSpPr>
        <p:spPr>
          <a:xfrm>
            <a:off x="4547062" y="1632065"/>
            <a:ext cx="3657600" cy="3951288"/>
          </a:xfrm>
        </p:spPr>
        <p:txBody>
          <a:bodyPr>
            <a:normAutofit fontScale="92500"/>
          </a:bodyPr>
          <a:lstStyle/>
          <a:p>
            <a:r>
              <a:rPr lang="en-US" b="1" dirty="0"/>
              <a:t>Aim: </a:t>
            </a:r>
            <a:r>
              <a:rPr lang="en-US" dirty="0"/>
              <a:t>Provide an estimation to an unknown parameter.</a:t>
            </a:r>
          </a:p>
          <a:p>
            <a:r>
              <a:rPr lang="en-US" b="1" dirty="0"/>
              <a:t>Steps:</a:t>
            </a:r>
            <a:endParaRPr lang="en-US" dirty="0"/>
          </a:p>
          <a:p>
            <a:pPr fontAlgn="base"/>
            <a:r>
              <a:rPr lang="en-US" dirty="0"/>
              <a:t>Find the sample statistic</a:t>
            </a:r>
          </a:p>
          <a:p>
            <a:pPr fontAlgn="base"/>
            <a:r>
              <a:rPr lang="en-US" dirty="0"/>
              <a:t>Compute margin of error</a:t>
            </a:r>
          </a:p>
          <a:p>
            <a:pPr fontAlgn="base"/>
            <a:r>
              <a:rPr lang="en-US" dirty="0"/>
              <a:t>Provide your interval estimation</a:t>
            </a:r>
          </a:p>
        </p:txBody>
      </p:sp>
    </p:spTree>
    <p:extLst>
      <p:ext uri="{BB962C8B-B14F-4D97-AF65-F5344CB8AC3E}">
        <p14:creationId xmlns:p14="http://schemas.microsoft.com/office/powerpoint/2010/main" val="59888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00CBEFAA-97C0-0C6B-0840-03179BA670F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0488" y="718210"/>
            <a:ext cx="8277225" cy="5421581"/>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8495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143000" y="4458237"/>
            <a:ext cx="7543800" cy="1450975"/>
          </a:xfrm>
        </p:spPr>
        <p:txBody>
          <a:bodyPr>
            <a:normAutofit/>
          </a:bodyPr>
          <a:lstStyle/>
          <a:p>
            <a:r>
              <a:rPr lang="en-US" dirty="0"/>
              <a:t>Backpack Weights</a:t>
            </a:r>
            <a:endParaRPr lang="en-US" dirty="0">
              <a:effectLst/>
            </a:endParaRPr>
          </a:p>
        </p:txBody>
      </p:sp>
      <p:sp>
        <p:nvSpPr>
          <p:cNvPr id="5" name="Subtitle 4"/>
          <p:cNvSpPr>
            <a:spLocks noGrp="1"/>
          </p:cNvSpPr>
          <p:nvPr>
            <p:ph type="subTitle" idx="1"/>
          </p:nvPr>
        </p:nvSpPr>
        <p:spPr>
          <a:xfrm>
            <a:off x="1231542" y="5776175"/>
            <a:ext cx="6461760" cy="1066800"/>
          </a:xfrm>
        </p:spPr>
        <p:txBody>
          <a:bodyPr>
            <a:normAutofit/>
          </a:bodyPr>
          <a:lstStyle/>
          <a:p>
            <a:endParaRPr lang="en-US" sz="3200" dirty="0"/>
          </a:p>
        </p:txBody>
      </p:sp>
      <p:pic>
        <p:nvPicPr>
          <p:cNvPr id="2" name="Picture 1">
            <a:extLst>
              <a:ext uri="{FF2B5EF4-FFF2-40B4-BE49-F238E27FC236}">
                <a16:creationId xmlns:a16="http://schemas.microsoft.com/office/drawing/2014/main" id="{983DACBD-FB25-43A4-9992-8E7067649F81}"/>
              </a:ext>
            </a:extLst>
          </p:cNvPr>
          <p:cNvPicPr>
            <a:picLocks noChangeAspect="1"/>
          </p:cNvPicPr>
          <p:nvPr/>
        </p:nvPicPr>
        <p:blipFill>
          <a:blip r:embed="rId2"/>
          <a:stretch>
            <a:fillRect/>
          </a:stretch>
        </p:blipFill>
        <p:spPr>
          <a:xfrm>
            <a:off x="381000" y="1828800"/>
            <a:ext cx="8104762" cy="2828571"/>
          </a:xfrm>
          <a:prstGeom prst="rect">
            <a:avLst/>
          </a:prstGeom>
        </p:spPr>
      </p:pic>
    </p:spTree>
    <p:extLst>
      <p:ext uri="{BB962C8B-B14F-4D97-AF65-F5344CB8AC3E}">
        <p14:creationId xmlns:p14="http://schemas.microsoft.com/office/powerpoint/2010/main" val="3730448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Backpack Weight</a:t>
            </a:r>
            <a:r>
              <a:rPr lang="en-US" dirty="0">
                <a:effectLst/>
              </a:rPr>
              <a:t>s</a:t>
            </a:r>
            <a:endParaRPr lang="en-US" dirty="0"/>
          </a:p>
        </p:txBody>
      </p:sp>
      <p:sp>
        <p:nvSpPr>
          <p:cNvPr id="2" name="Content Placeholder 1"/>
          <p:cNvSpPr>
            <a:spLocks noGrp="1"/>
          </p:cNvSpPr>
          <p:nvPr>
            <p:ph idx="1"/>
          </p:nvPr>
        </p:nvSpPr>
        <p:spPr/>
        <p:txBody>
          <a:bodyPr>
            <a:normAutofit/>
          </a:bodyPr>
          <a:lstStyle/>
          <a:p>
            <a:r>
              <a:rPr lang="en-US" sz="2800" dirty="0"/>
              <a:t>Carrying a heavy backpack can be a source of chronic, low-level trauma and can cause long-lasting shoulder, neck, and back pain.</a:t>
            </a:r>
          </a:p>
          <a:p>
            <a:r>
              <a:rPr lang="en-US" sz="2800" dirty="0"/>
              <a:t>The American Academy of Orthopedic Surgeons recommends that a backpack not weigh more than 10% to 15% of the wearer’s body weight.</a:t>
            </a:r>
          </a:p>
          <a:p>
            <a:r>
              <a:rPr lang="en-US" sz="2800" dirty="0"/>
              <a:t>College students at a public university in California (about 20,000 enrollment) wondered if college students at their university were following these backpack weight guidelines.</a:t>
            </a:r>
          </a:p>
          <a:p>
            <a:endParaRPr lang="en-US" dirty="0"/>
          </a:p>
        </p:txBody>
      </p:sp>
      <p:pic>
        <p:nvPicPr>
          <p:cNvPr id="5" name="Picture 4">
            <a:extLst>
              <a:ext uri="{FF2B5EF4-FFF2-40B4-BE49-F238E27FC236}">
                <a16:creationId xmlns:a16="http://schemas.microsoft.com/office/drawing/2014/main" id="{7008B880-6E0D-4326-BFB7-04940AB18D74}"/>
              </a:ext>
            </a:extLst>
          </p:cNvPr>
          <p:cNvPicPr>
            <a:picLocks noChangeAspect="1"/>
          </p:cNvPicPr>
          <p:nvPr/>
        </p:nvPicPr>
        <p:blipFill rotWithShape="1">
          <a:blip r:embed="rId2"/>
          <a:srcRect l="155" r="60345"/>
          <a:stretch/>
        </p:blipFill>
        <p:spPr>
          <a:xfrm>
            <a:off x="6629400" y="51101"/>
            <a:ext cx="1752600" cy="1549099"/>
          </a:xfrm>
          <a:prstGeom prst="rect">
            <a:avLst/>
          </a:prstGeom>
        </p:spPr>
      </p:pic>
    </p:spTree>
    <p:extLst>
      <p:ext uri="{BB962C8B-B14F-4D97-AF65-F5344CB8AC3E}">
        <p14:creationId xmlns:p14="http://schemas.microsoft.com/office/powerpoint/2010/main" val="3067013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Backpack Weights</a:t>
            </a:r>
          </a:p>
        </p:txBody>
      </p:sp>
      <p:sp>
        <p:nvSpPr>
          <p:cNvPr id="2" name="Content Placeholder 1"/>
          <p:cNvSpPr>
            <a:spLocks noGrp="1"/>
          </p:cNvSpPr>
          <p:nvPr>
            <p:ph idx="1"/>
          </p:nvPr>
        </p:nvSpPr>
        <p:spPr/>
        <p:txBody>
          <a:bodyPr>
            <a:normAutofit/>
          </a:bodyPr>
          <a:lstStyle/>
          <a:p>
            <a:r>
              <a:rPr lang="en-US" sz="2800" b="1" dirty="0"/>
              <a:t>STEP 1: Ask a research question</a:t>
            </a:r>
          </a:p>
          <a:p>
            <a:r>
              <a:rPr lang="en-US" sz="2800" dirty="0"/>
              <a:t>Do university students carry backpacks that weigh on average something different than the recommended 10% of their body weight?</a:t>
            </a:r>
          </a:p>
          <a:p>
            <a:r>
              <a:rPr lang="en-US" sz="2800" dirty="0"/>
              <a:t>Let’s take a closer look at this study</a:t>
            </a:r>
            <a:endParaRPr lang="en-US" sz="2800" b="1" dirty="0"/>
          </a:p>
        </p:txBody>
      </p:sp>
      <p:pic>
        <p:nvPicPr>
          <p:cNvPr id="4" name="Picture 3">
            <a:extLst>
              <a:ext uri="{FF2B5EF4-FFF2-40B4-BE49-F238E27FC236}">
                <a16:creationId xmlns:a16="http://schemas.microsoft.com/office/drawing/2014/main" id="{838D261D-8D5B-4E84-9CF1-06ADAB40DD1D}"/>
              </a:ext>
            </a:extLst>
          </p:cNvPr>
          <p:cNvPicPr>
            <a:picLocks noChangeAspect="1"/>
          </p:cNvPicPr>
          <p:nvPr/>
        </p:nvPicPr>
        <p:blipFill>
          <a:blip r:embed="rId2"/>
          <a:stretch>
            <a:fillRect/>
          </a:stretch>
        </p:blipFill>
        <p:spPr>
          <a:xfrm>
            <a:off x="6629400" y="45585"/>
            <a:ext cx="1749704" cy="1554615"/>
          </a:xfrm>
          <a:prstGeom prst="rect">
            <a:avLst/>
          </a:prstGeom>
        </p:spPr>
      </p:pic>
    </p:spTree>
    <p:extLst>
      <p:ext uri="{BB962C8B-B14F-4D97-AF65-F5344CB8AC3E}">
        <p14:creationId xmlns:p14="http://schemas.microsoft.com/office/powerpoint/2010/main" val="2383091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Backpack Weights</a:t>
            </a:r>
          </a:p>
        </p:txBody>
      </p:sp>
      <p:sp>
        <p:nvSpPr>
          <p:cNvPr id="8" name="Content Placeholder 7">
            <a:extLst>
              <a:ext uri="{FF2B5EF4-FFF2-40B4-BE49-F238E27FC236}">
                <a16:creationId xmlns:a16="http://schemas.microsoft.com/office/drawing/2014/main" id="{BDE76846-D004-4064-9D80-89642D7A47CF}"/>
              </a:ext>
            </a:extLst>
          </p:cNvPr>
          <p:cNvSpPr>
            <a:spLocks noGrp="1"/>
          </p:cNvSpPr>
          <p:nvPr>
            <p:ph idx="1"/>
          </p:nvPr>
        </p:nvSpPr>
        <p:spPr/>
        <p:txBody>
          <a:bodyPr>
            <a:noAutofit/>
          </a:bodyPr>
          <a:lstStyle/>
          <a:p>
            <a:r>
              <a:rPr lang="en-US" sz="2800" b="1" dirty="0"/>
              <a:t>STEP 2: Design a study and collect data</a:t>
            </a:r>
          </a:p>
          <a:p>
            <a:r>
              <a:rPr lang="en-US" sz="2300" dirty="0"/>
              <a:t>Each of 4 consecutive days, student researchers set up a scale at a different location on their campus. At each location, data was gathered on students who agreed to participate until they had data on 25 students at that location (100 total students).</a:t>
            </a:r>
          </a:p>
          <a:p>
            <a:r>
              <a:rPr lang="en-US" sz="2300" dirty="0"/>
              <a:t>Each student had their backpack weight recorded to the nearest pound.</a:t>
            </a:r>
          </a:p>
          <a:p>
            <a:r>
              <a:rPr lang="en-US" sz="2300" dirty="0"/>
              <a:t>Each student filled out a short survey that asked their weight in pounds, what college they were in, their major, their year in school, whether they were a graduate or undergraduate student, their total course units, and whether they experienced any back problems.</a:t>
            </a:r>
          </a:p>
        </p:txBody>
      </p:sp>
      <p:pic>
        <p:nvPicPr>
          <p:cNvPr id="5" name="Picture 4">
            <a:extLst>
              <a:ext uri="{FF2B5EF4-FFF2-40B4-BE49-F238E27FC236}">
                <a16:creationId xmlns:a16="http://schemas.microsoft.com/office/drawing/2014/main" id="{11287BF3-E2A2-4B01-BA30-ACA284200609}"/>
              </a:ext>
            </a:extLst>
          </p:cNvPr>
          <p:cNvPicPr>
            <a:picLocks noChangeAspect="1"/>
          </p:cNvPicPr>
          <p:nvPr/>
        </p:nvPicPr>
        <p:blipFill rotWithShape="1">
          <a:blip r:embed="rId2"/>
          <a:srcRect l="155" r="60345"/>
          <a:stretch/>
        </p:blipFill>
        <p:spPr>
          <a:xfrm>
            <a:off x="6629400" y="51101"/>
            <a:ext cx="1752600" cy="1549099"/>
          </a:xfrm>
          <a:prstGeom prst="rect">
            <a:avLst/>
          </a:prstGeom>
        </p:spPr>
      </p:pic>
    </p:spTree>
    <p:extLst>
      <p:ext uri="{BB962C8B-B14F-4D97-AF65-F5344CB8AC3E}">
        <p14:creationId xmlns:p14="http://schemas.microsoft.com/office/powerpoint/2010/main" val="451384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Backpack Weights</a:t>
            </a:r>
          </a:p>
        </p:txBody>
      </p:sp>
      <p:sp>
        <p:nvSpPr>
          <p:cNvPr id="8" name="Content Placeholder 7">
            <a:extLst>
              <a:ext uri="{FF2B5EF4-FFF2-40B4-BE49-F238E27FC236}">
                <a16:creationId xmlns:a16="http://schemas.microsoft.com/office/drawing/2014/main" id="{BDE76846-D004-4064-9D80-89642D7A47CF}"/>
              </a:ext>
            </a:extLst>
          </p:cNvPr>
          <p:cNvSpPr>
            <a:spLocks noGrp="1"/>
          </p:cNvSpPr>
          <p:nvPr>
            <p:ph idx="1"/>
          </p:nvPr>
        </p:nvSpPr>
        <p:spPr/>
        <p:txBody>
          <a:bodyPr>
            <a:noAutofit/>
          </a:bodyPr>
          <a:lstStyle/>
          <a:p>
            <a:r>
              <a:rPr lang="en-US" sz="2800" dirty="0"/>
              <a:t>What are the observational units?</a:t>
            </a:r>
          </a:p>
          <a:p>
            <a:r>
              <a:rPr lang="en-US" sz="2800" i="1" dirty="0"/>
              <a:t>The observational units are the 100 students.</a:t>
            </a:r>
          </a:p>
          <a:p>
            <a:r>
              <a:rPr lang="en-US" sz="2800" dirty="0"/>
              <a:t>What measured variables are categorical?</a:t>
            </a:r>
          </a:p>
          <a:p>
            <a:r>
              <a:rPr lang="en-US" sz="2800" i="1" dirty="0"/>
              <a:t>College, major, year in school, back problems. </a:t>
            </a:r>
          </a:p>
          <a:p>
            <a:r>
              <a:rPr lang="en-US" sz="2800" dirty="0"/>
              <a:t>What measured variables are quantitative?</a:t>
            </a:r>
          </a:p>
          <a:p>
            <a:r>
              <a:rPr lang="en-US" sz="2800" i="1" dirty="0"/>
              <a:t>The backpack weight (</a:t>
            </a:r>
            <a:r>
              <a:rPr lang="en-US" sz="2800" i="1" dirty="0" err="1"/>
              <a:t>lbs</a:t>
            </a:r>
            <a:r>
              <a:rPr lang="en-US" sz="2800" i="1" dirty="0"/>
              <a:t>), the student weight (</a:t>
            </a:r>
            <a:r>
              <a:rPr lang="en-US" sz="2800" i="1" dirty="0" err="1"/>
              <a:t>lbs</a:t>
            </a:r>
            <a:r>
              <a:rPr lang="en-US" sz="2800" i="1" dirty="0"/>
              <a:t>), the number of course units.</a:t>
            </a:r>
          </a:p>
        </p:txBody>
      </p:sp>
      <p:pic>
        <p:nvPicPr>
          <p:cNvPr id="5" name="Picture 4">
            <a:extLst>
              <a:ext uri="{FF2B5EF4-FFF2-40B4-BE49-F238E27FC236}">
                <a16:creationId xmlns:a16="http://schemas.microsoft.com/office/drawing/2014/main" id="{849BBD96-29B0-4C10-B4BD-A755D13CE0AB}"/>
              </a:ext>
            </a:extLst>
          </p:cNvPr>
          <p:cNvPicPr>
            <a:picLocks noChangeAspect="1"/>
          </p:cNvPicPr>
          <p:nvPr/>
        </p:nvPicPr>
        <p:blipFill rotWithShape="1">
          <a:blip r:embed="rId2"/>
          <a:srcRect l="155" r="60345"/>
          <a:stretch/>
        </p:blipFill>
        <p:spPr>
          <a:xfrm>
            <a:off x="6629400" y="51101"/>
            <a:ext cx="1752600" cy="1549099"/>
          </a:xfrm>
          <a:prstGeom prst="rect">
            <a:avLst/>
          </a:prstGeom>
        </p:spPr>
      </p:pic>
    </p:spTree>
    <p:extLst>
      <p:ext uri="{BB962C8B-B14F-4D97-AF65-F5344CB8AC3E}">
        <p14:creationId xmlns:p14="http://schemas.microsoft.com/office/powerpoint/2010/main" val="4085247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Backpack Weights</a:t>
            </a:r>
          </a:p>
        </p:txBody>
      </p:sp>
      <p:sp>
        <p:nvSpPr>
          <p:cNvPr id="8" name="Content Placeholder 7">
            <a:extLst>
              <a:ext uri="{FF2B5EF4-FFF2-40B4-BE49-F238E27FC236}">
                <a16:creationId xmlns:a16="http://schemas.microsoft.com/office/drawing/2014/main" id="{BDE76846-D004-4064-9D80-89642D7A47CF}"/>
              </a:ext>
            </a:extLst>
          </p:cNvPr>
          <p:cNvSpPr>
            <a:spLocks noGrp="1"/>
          </p:cNvSpPr>
          <p:nvPr>
            <p:ph idx="1"/>
          </p:nvPr>
        </p:nvSpPr>
        <p:spPr/>
        <p:txBody>
          <a:bodyPr>
            <a:noAutofit/>
          </a:bodyPr>
          <a:lstStyle/>
          <a:p>
            <a:r>
              <a:rPr lang="en-US" sz="2800" dirty="0"/>
              <a:t>Other variables calculated</a:t>
            </a:r>
          </a:p>
          <a:p>
            <a:r>
              <a:rPr lang="en-US" sz="2800" dirty="0"/>
              <a:t>Percentage of student’s body weight the backpack is calculated as a ratio</a:t>
            </a:r>
          </a:p>
          <a:p>
            <a:r>
              <a:rPr lang="en-US" sz="2800" dirty="0"/>
              <a:t>Spread sheet/data sheet</a:t>
            </a:r>
          </a:p>
        </p:txBody>
      </p:sp>
      <p:pic>
        <p:nvPicPr>
          <p:cNvPr id="17" name="Picture 16">
            <a:extLst>
              <a:ext uri="{FF2B5EF4-FFF2-40B4-BE49-F238E27FC236}">
                <a16:creationId xmlns:a16="http://schemas.microsoft.com/office/drawing/2014/main" id="{AB05CAF5-D84A-4DBB-9BC4-81A84FF464FB}"/>
              </a:ext>
            </a:extLst>
          </p:cNvPr>
          <p:cNvPicPr>
            <a:picLocks noChangeAspect="1"/>
          </p:cNvPicPr>
          <p:nvPr/>
        </p:nvPicPr>
        <p:blipFill rotWithShape="1">
          <a:blip r:embed="rId2"/>
          <a:srcRect l="155" r="60345"/>
          <a:stretch/>
        </p:blipFill>
        <p:spPr>
          <a:xfrm>
            <a:off x="6629400" y="51101"/>
            <a:ext cx="1752600" cy="1549099"/>
          </a:xfrm>
          <a:prstGeom prst="rect">
            <a:avLst/>
          </a:prstGeom>
        </p:spPr>
      </p:pic>
      <p:pic>
        <p:nvPicPr>
          <p:cNvPr id="2" name="Picture 1">
            <a:extLst>
              <a:ext uri="{FF2B5EF4-FFF2-40B4-BE49-F238E27FC236}">
                <a16:creationId xmlns:a16="http://schemas.microsoft.com/office/drawing/2014/main" id="{A0C592A7-63E6-4B75-B389-60BB1EB43854}"/>
              </a:ext>
            </a:extLst>
          </p:cNvPr>
          <p:cNvPicPr>
            <a:picLocks noChangeAspect="1"/>
          </p:cNvPicPr>
          <p:nvPr/>
        </p:nvPicPr>
        <p:blipFill>
          <a:blip r:embed="rId3"/>
          <a:stretch>
            <a:fillRect/>
          </a:stretch>
        </p:blipFill>
        <p:spPr>
          <a:xfrm>
            <a:off x="610552" y="3459119"/>
            <a:ext cx="7619048" cy="3380952"/>
          </a:xfrm>
          <a:prstGeom prst="rect">
            <a:avLst/>
          </a:prstGeom>
        </p:spPr>
      </p:pic>
      <p:sp>
        <p:nvSpPr>
          <p:cNvPr id="4" name="Rectangle 3">
            <a:extLst>
              <a:ext uri="{FF2B5EF4-FFF2-40B4-BE49-F238E27FC236}">
                <a16:creationId xmlns:a16="http://schemas.microsoft.com/office/drawing/2014/main" id="{924AF509-5FB8-9165-FB46-7ABFA4124493}"/>
              </a:ext>
            </a:extLst>
          </p:cNvPr>
          <p:cNvSpPr/>
          <p:nvPr/>
        </p:nvSpPr>
        <p:spPr>
          <a:xfrm>
            <a:off x="2133600" y="3505200"/>
            <a:ext cx="685800" cy="3276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7756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Hypotheses</a:t>
            </a:r>
            <a:endParaRPr lang="en-US" dirty="0"/>
          </a:p>
        </p:txBody>
      </p:sp>
      <p:sp>
        <p:nvSpPr>
          <p:cNvPr id="8" name="Content Placeholder 7">
            <a:extLst>
              <a:ext uri="{FF2B5EF4-FFF2-40B4-BE49-F238E27FC236}">
                <a16:creationId xmlns:a16="http://schemas.microsoft.com/office/drawing/2014/main" id="{BDE76846-D004-4064-9D80-89642D7A47CF}"/>
              </a:ext>
            </a:extLst>
          </p:cNvPr>
          <p:cNvSpPr>
            <a:spLocks noGrp="1"/>
          </p:cNvSpPr>
          <p:nvPr>
            <p:ph idx="1"/>
          </p:nvPr>
        </p:nvSpPr>
        <p:spPr/>
        <p:txBody>
          <a:bodyPr>
            <a:noAutofit/>
          </a:bodyPr>
          <a:lstStyle/>
          <a:p>
            <a:r>
              <a:rPr lang="en-US" sz="2800" dirty="0"/>
              <a:t>State the null and alternative hypotheses</a:t>
            </a:r>
          </a:p>
          <a:p>
            <a:pPr lvl="1"/>
            <a:r>
              <a:rPr lang="en-US" sz="2600" b="1" dirty="0"/>
              <a:t>Null hypothesis: </a:t>
            </a:r>
            <a:r>
              <a:rPr lang="en-US" sz="2600" dirty="0"/>
              <a:t>The unknown long run mean ratio of backpack weight to body weight is 0.10</a:t>
            </a:r>
          </a:p>
          <a:p>
            <a:pPr lvl="1"/>
            <a:r>
              <a:rPr lang="en-US" sz="2600" b="1" dirty="0"/>
              <a:t>Alternative hypothesis: </a:t>
            </a:r>
            <a:r>
              <a:rPr lang="en-US" sz="2600" dirty="0"/>
              <a:t>The unknown long run mean ratio of backpack weight to body weight is different from 0.10</a:t>
            </a:r>
          </a:p>
        </p:txBody>
      </p:sp>
      <p:pic>
        <p:nvPicPr>
          <p:cNvPr id="5" name="Picture 4">
            <a:extLst>
              <a:ext uri="{FF2B5EF4-FFF2-40B4-BE49-F238E27FC236}">
                <a16:creationId xmlns:a16="http://schemas.microsoft.com/office/drawing/2014/main" id="{6375F6F5-298B-418E-A8DF-B82E17A17C58}"/>
              </a:ext>
            </a:extLst>
          </p:cNvPr>
          <p:cNvPicPr>
            <a:picLocks noChangeAspect="1"/>
          </p:cNvPicPr>
          <p:nvPr/>
        </p:nvPicPr>
        <p:blipFill rotWithShape="1">
          <a:blip r:embed="rId2"/>
          <a:srcRect l="155" r="60345"/>
          <a:stretch/>
        </p:blipFill>
        <p:spPr>
          <a:xfrm>
            <a:off x="6629400" y="51101"/>
            <a:ext cx="1752600" cy="1549099"/>
          </a:xfrm>
          <a:prstGeom prst="rect">
            <a:avLst/>
          </a:prstGeom>
        </p:spPr>
      </p:pic>
    </p:spTree>
    <p:extLst>
      <p:ext uri="{BB962C8B-B14F-4D97-AF65-F5344CB8AC3E}">
        <p14:creationId xmlns:p14="http://schemas.microsoft.com/office/powerpoint/2010/main" val="1830404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Parameters</a:t>
            </a:r>
            <a:endParaRPr lang="en-US" dirty="0"/>
          </a:p>
        </p:txBody>
      </p:sp>
      <p:sp>
        <p:nvSpPr>
          <p:cNvPr id="8" name="Content Placeholder 7">
            <a:extLst>
              <a:ext uri="{FF2B5EF4-FFF2-40B4-BE49-F238E27FC236}">
                <a16:creationId xmlns:a16="http://schemas.microsoft.com/office/drawing/2014/main" id="{BDE76846-D004-4064-9D80-89642D7A47CF}"/>
              </a:ext>
            </a:extLst>
          </p:cNvPr>
          <p:cNvSpPr>
            <a:spLocks noGrp="1"/>
          </p:cNvSpPr>
          <p:nvPr>
            <p:ph idx="1"/>
          </p:nvPr>
        </p:nvSpPr>
        <p:spPr>
          <a:xfrm>
            <a:off x="457200" y="1600200"/>
            <a:ext cx="7620000" cy="5009394"/>
          </a:xfrm>
        </p:spPr>
        <p:txBody>
          <a:bodyPr>
            <a:noAutofit/>
          </a:bodyPr>
          <a:lstStyle/>
          <a:p>
            <a:r>
              <a:rPr lang="en-US" sz="2600" dirty="0"/>
              <a:t>We can also use a symbol for the unknown parameter we are trying to estimate. </a:t>
            </a:r>
          </a:p>
          <a:p>
            <a:r>
              <a:rPr lang="en-US" sz="2600" dirty="0"/>
              <a:t>The parameter of interest is: </a:t>
            </a:r>
          </a:p>
          <a:p>
            <a:pPr lvl="1"/>
            <a:r>
              <a:rPr lang="en-US" sz="2600" dirty="0"/>
              <a:t>µ = the unknown long-run mean ratio of backpack weight to body weight</a:t>
            </a:r>
          </a:p>
          <a:p>
            <a:pPr lvl="1"/>
            <a:endParaRPr lang="en-US" sz="2400" dirty="0"/>
          </a:p>
        </p:txBody>
      </p:sp>
      <p:pic>
        <p:nvPicPr>
          <p:cNvPr id="5" name="Picture 4">
            <a:extLst>
              <a:ext uri="{FF2B5EF4-FFF2-40B4-BE49-F238E27FC236}">
                <a16:creationId xmlns:a16="http://schemas.microsoft.com/office/drawing/2014/main" id="{7E8EBB63-8538-4E21-964C-08586FC5505E}"/>
              </a:ext>
            </a:extLst>
          </p:cNvPr>
          <p:cNvPicPr>
            <a:picLocks noChangeAspect="1"/>
          </p:cNvPicPr>
          <p:nvPr/>
        </p:nvPicPr>
        <p:blipFill rotWithShape="1">
          <a:blip r:embed="rId2"/>
          <a:srcRect l="155" r="60345"/>
          <a:stretch/>
        </p:blipFill>
        <p:spPr>
          <a:xfrm>
            <a:off x="6629400" y="51101"/>
            <a:ext cx="1752600" cy="1549099"/>
          </a:xfrm>
          <a:prstGeom prst="rect">
            <a:avLst/>
          </a:prstGeom>
        </p:spPr>
      </p:pic>
    </p:spTree>
    <p:extLst>
      <p:ext uri="{BB962C8B-B14F-4D97-AF65-F5344CB8AC3E}">
        <p14:creationId xmlns:p14="http://schemas.microsoft.com/office/powerpoint/2010/main" val="3549698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Hypotheses</a:t>
            </a:r>
            <a:endParaRPr lang="en-US" dirty="0"/>
          </a:p>
        </p:txBody>
      </p:sp>
      <p:sp>
        <p:nvSpPr>
          <p:cNvPr id="8" name="Content Placeholder 7">
            <a:extLst>
              <a:ext uri="{FF2B5EF4-FFF2-40B4-BE49-F238E27FC236}">
                <a16:creationId xmlns:a16="http://schemas.microsoft.com/office/drawing/2014/main" id="{BDE76846-D004-4064-9D80-89642D7A47CF}"/>
              </a:ext>
            </a:extLst>
          </p:cNvPr>
          <p:cNvSpPr>
            <a:spLocks noGrp="1"/>
          </p:cNvSpPr>
          <p:nvPr>
            <p:ph idx="1"/>
          </p:nvPr>
        </p:nvSpPr>
        <p:spPr/>
        <p:txBody>
          <a:bodyPr>
            <a:noAutofit/>
          </a:bodyPr>
          <a:lstStyle/>
          <a:p>
            <a:r>
              <a:rPr lang="en-US" sz="2800" dirty="0"/>
              <a:t>Mu (µ) is the parameter for population mean ratio. </a:t>
            </a:r>
          </a:p>
          <a:p>
            <a:r>
              <a:rPr lang="en-US" sz="2800" dirty="0"/>
              <a:t>Using this symbol, we can rewrite the hypotheses as follows:</a:t>
            </a:r>
            <a:r>
              <a:rPr lang="en-US" sz="2800" b="1" dirty="0"/>
              <a:t> </a:t>
            </a:r>
          </a:p>
          <a:p>
            <a:endParaRPr lang="en-US" sz="2400" dirty="0"/>
          </a:p>
          <a:p>
            <a:pPr marL="114300" indent="0" algn="ctr">
              <a:buNone/>
            </a:pPr>
            <a:r>
              <a:rPr lang="en-US" sz="2800" b="1" dirty="0"/>
              <a:t>H</a:t>
            </a:r>
            <a:r>
              <a:rPr lang="en-US" sz="2800" b="1" baseline="-25000" dirty="0"/>
              <a:t>0</a:t>
            </a:r>
            <a:r>
              <a:rPr lang="en-US" sz="2800" b="1" dirty="0"/>
              <a:t>:</a:t>
            </a:r>
            <a:r>
              <a:rPr lang="en-US" sz="2800" dirty="0"/>
              <a:t> µ = 0.10</a:t>
            </a:r>
          </a:p>
          <a:p>
            <a:pPr marL="114300" indent="0" algn="ctr">
              <a:buNone/>
            </a:pPr>
            <a:r>
              <a:rPr lang="en-US" sz="2800" b="1" dirty="0"/>
              <a:t>H</a:t>
            </a:r>
            <a:r>
              <a:rPr lang="en-US" sz="2800" b="1" baseline="-25000" dirty="0"/>
              <a:t>a</a:t>
            </a:r>
            <a:r>
              <a:rPr lang="en-US" sz="2800" b="1" dirty="0"/>
              <a:t>:</a:t>
            </a:r>
            <a:r>
              <a:rPr lang="en-US" sz="2800" dirty="0"/>
              <a:t>µ ≠ 0.10</a:t>
            </a:r>
          </a:p>
          <a:p>
            <a:pPr marL="114300" indent="0" algn="ctr">
              <a:buNone/>
            </a:pPr>
            <a:r>
              <a:rPr lang="en-US" sz="2800" dirty="0"/>
              <a:t> </a:t>
            </a:r>
          </a:p>
        </p:txBody>
      </p:sp>
      <p:pic>
        <p:nvPicPr>
          <p:cNvPr id="5" name="Picture 4">
            <a:extLst>
              <a:ext uri="{FF2B5EF4-FFF2-40B4-BE49-F238E27FC236}">
                <a16:creationId xmlns:a16="http://schemas.microsoft.com/office/drawing/2014/main" id="{E77B7A04-42CB-4A9B-A008-460C88A5E2B2}"/>
              </a:ext>
            </a:extLst>
          </p:cNvPr>
          <p:cNvPicPr>
            <a:picLocks noChangeAspect="1"/>
          </p:cNvPicPr>
          <p:nvPr/>
        </p:nvPicPr>
        <p:blipFill rotWithShape="1">
          <a:blip r:embed="rId2"/>
          <a:srcRect l="155" r="60345"/>
          <a:stretch/>
        </p:blipFill>
        <p:spPr>
          <a:xfrm>
            <a:off x="6629400" y="51101"/>
            <a:ext cx="1752600" cy="1549099"/>
          </a:xfrm>
          <a:prstGeom prst="rect">
            <a:avLst/>
          </a:prstGeom>
        </p:spPr>
      </p:pic>
    </p:spTree>
    <p:extLst>
      <p:ext uri="{BB962C8B-B14F-4D97-AF65-F5344CB8AC3E}">
        <p14:creationId xmlns:p14="http://schemas.microsoft.com/office/powerpoint/2010/main" val="2594532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Hypotheses</a:t>
            </a:r>
            <a:endParaRPr lang="en-US" dirty="0"/>
          </a:p>
        </p:txBody>
      </p:sp>
      <p:sp>
        <p:nvSpPr>
          <p:cNvPr id="8" name="Content Placeholder 7">
            <a:extLst>
              <a:ext uri="{FF2B5EF4-FFF2-40B4-BE49-F238E27FC236}">
                <a16:creationId xmlns:a16="http://schemas.microsoft.com/office/drawing/2014/main" id="{BDE76846-D004-4064-9D80-89642D7A47CF}"/>
              </a:ext>
            </a:extLst>
          </p:cNvPr>
          <p:cNvSpPr>
            <a:spLocks noGrp="1"/>
          </p:cNvSpPr>
          <p:nvPr>
            <p:ph idx="1"/>
          </p:nvPr>
        </p:nvSpPr>
        <p:spPr/>
        <p:txBody>
          <a:bodyPr>
            <a:noAutofit/>
          </a:bodyPr>
          <a:lstStyle/>
          <a:p>
            <a:pPr marL="0" indent="0">
              <a:buNone/>
            </a:pPr>
            <a:r>
              <a:rPr lang="en-US" sz="2800" dirty="0"/>
              <a:t>Remember</a:t>
            </a:r>
          </a:p>
          <a:p>
            <a:r>
              <a:rPr lang="en-US" sz="2800" dirty="0"/>
              <a:t>The hypotheses are about the parameter value in the population, not just for these 100 students. </a:t>
            </a:r>
          </a:p>
          <a:p>
            <a:r>
              <a:rPr lang="en-US" sz="2800" dirty="0"/>
              <a:t>Hypotheses are always about populations or processes, not the sample data. </a:t>
            </a:r>
          </a:p>
        </p:txBody>
      </p:sp>
      <p:pic>
        <p:nvPicPr>
          <p:cNvPr id="5" name="Picture 4">
            <a:extLst>
              <a:ext uri="{FF2B5EF4-FFF2-40B4-BE49-F238E27FC236}">
                <a16:creationId xmlns:a16="http://schemas.microsoft.com/office/drawing/2014/main" id="{E097EE17-5B94-401B-B3D5-A11C2E4CE3D7}"/>
              </a:ext>
            </a:extLst>
          </p:cNvPr>
          <p:cNvPicPr>
            <a:picLocks noChangeAspect="1"/>
          </p:cNvPicPr>
          <p:nvPr/>
        </p:nvPicPr>
        <p:blipFill rotWithShape="1">
          <a:blip r:embed="rId2"/>
          <a:srcRect l="155" r="60345"/>
          <a:stretch/>
        </p:blipFill>
        <p:spPr>
          <a:xfrm>
            <a:off x="6629400" y="51101"/>
            <a:ext cx="1752600" cy="1549099"/>
          </a:xfrm>
          <a:prstGeom prst="rect">
            <a:avLst/>
          </a:prstGeom>
        </p:spPr>
      </p:pic>
    </p:spTree>
    <p:extLst>
      <p:ext uri="{BB962C8B-B14F-4D97-AF65-F5344CB8AC3E}">
        <p14:creationId xmlns:p14="http://schemas.microsoft.com/office/powerpoint/2010/main" val="716971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Step 3: Explore the data</a:t>
            </a:r>
          </a:p>
        </p:txBody>
      </p:sp>
      <p:graphicFrame>
        <p:nvGraphicFramePr>
          <p:cNvPr id="2" name="Table 1">
            <a:extLst>
              <a:ext uri="{FF2B5EF4-FFF2-40B4-BE49-F238E27FC236}">
                <a16:creationId xmlns:a16="http://schemas.microsoft.com/office/drawing/2014/main" id="{700B0931-C37A-4454-BE18-1D571F4090D5}"/>
              </a:ext>
            </a:extLst>
          </p:cNvPr>
          <p:cNvGraphicFramePr>
            <a:graphicFrameLocks noGrp="1"/>
          </p:cNvGraphicFramePr>
          <p:nvPr>
            <p:extLst>
              <p:ext uri="{D42A27DB-BD31-4B8C-83A1-F6EECF244321}">
                <p14:modId xmlns:p14="http://schemas.microsoft.com/office/powerpoint/2010/main" val="4029000264"/>
              </p:ext>
            </p:extLst>
          </p:nvPr>
        </p:nvGraphicFramePr>
        <p:xfrm>
          <a:off x="228597" y="4782619"/>
          <a:ext cx="7877284" cy="1301006"/>
        </p:xfrm>
        <a:graphic>
          <a:graphicData uri="http://schemas.openxmlformats.org/drawingml/2006/table">
            <a:tbl>
              <a:tblPr firstRow="1" firstCol="1" bandRow="1">
                <a:tableStyleId>{5C22544A-7EE6-4342-B048-85BDC9FD1C3A}</a:tableStyleId>
              </a:tblPr>
              <a:tblGrid>
                <a:gridCol w="872067">
                  <a:extLst>
                    <a:ext uri="{9D8B030D-6E8A-4147-A177-3AD203B41FA5}">
                      <a16:colId xmlns:a16="http://schemas.microsoft.com/office/drawing/2014/main" val="364608761"/>
                    </a:ext>
                  </a:extLst>
                </a:gridCol>
                <a:gridCol w="872067">
                  <a:extLst>
                    <a:ext uri="{9D8B030D-6E8A-4147-A177-3AD203B41FA5}">
                      <a16:colId xmlns:a16="http://schemas.microsoft.com/office/drawing/2014/main" val="1523355223"/>
                    </a:ext>
                  </a:extLst>
                </a:gridCol>
                <a:gridCol w="900748">
                  <a:extLst>
                    <a:ext uri="{9D8B030D-6E8A-4147-A177-3AD203B41FA5}">
                      <a16:colId xmlns:a16="http://schemas.microsoft.com/office/drawing/2014/main" val="531444709"/>
                    </a:ext>
                  </a:extLst>
                </a:gridCol>
                <a:gridCol w="872067">
                  <a:extLst>
                    <a:ext uri="{9D8B030D-6E8A-4147-A177-3AD203B41FA5}">
                      <a16:colId xmlns:a16="http://schemas.microsoft.com/office/drawing/2014/main" val="4066738862"/>
                    </a:ext>
                  </a:extLst>
                </a:gridCol>
                <a:gridCol w="872067">
                  <a:extLst>
                    <a:ext uri="{9D8B030D-6E8A-4147-A177-3AD203B41FA5}">
                      <a16:colId xmlns:a16="http://schemas.microsoft.com/office/drawing/2014/main" val="2107953774"/>
                    </a:ext>
                  </a:extLst>
                </a:gridCol>
                <a:gridCol w="872067">
                  <a:extLst>
                    <a:ext uri="{9D8B030D-6E8A-4147-A177-3AD203B41FA5}">
                      <a16:colId xmlns:a16="http://schemas.microsoft.com/office/drawing/2014/main" val="4088862770"/>
                    </a:ext>
                  </a:extLst>
                </a:gridCol>
                <a:gridCol w="872067">
                  <a:extLst>
                    <a:ext uri="{9D8B030D-6E8A-4147-A177-3AD203B41FA5}">
                      <a16:colId xmlns:a16="http://schemas.microsoft.com/office/drawing/2014/main" val="977994682"/>
                    </a:ext>
                  </a:extLst>
                </a:gridCol>
                <a:gridCol w="872067">
                  <a:extLst>
                    <a:ext uri="{9D8B030D-6E8A-4147-A177-3AD203B41FA5}">
                      <a16:colId xmlns:a16="http://schemas.microsoft.com/office/drawing/2014/main" val="3307566985"/>
                    </a:ext>
                  </a:extLst>
                </a:gridCol>
                <a:gridCol w="872067">
                  <a:extLst>
                    <a:ext uri="{9D8B030D-6E8A-4147-A177-3AD203B41FA5}">
                      <a16:colId xmlns:a16="http://schemas.microsoft.com/office/drawing/2014/main" val="3565640880"/>
                    </a:ext>
                  </a:extLst>
                </a:gridCol>
              </a:tblGrid>
              <a:tr h="620540">
                <a:tc>
                  <a:txBody>
                    <a:bodyPr/>
                    <a:lstStyle/>
                    <a:p>
                      <a:pPr marL="0" marR="0">
                        <a:lnSpc>
                          <a:spcPct val="115000"/>
                        </a:lnSpc>
                        <a:spcBef>
                          <a:spcPts val="0"/>
                        </a:spcBef>
                        <a:spcAft>
                          <a:spcPts val="0"/>
                        </a:spcAft>
                      </a:pP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15000"/>
                        </a:lnSpc>
                        <a:spcBef>
                          <a:spcPts val="0"/>
                        </a:spcBef>
                        <a:spcAft>
                          <a:spcPts val="0"/>
                        </a:spcAft>
                      </a:pPr>
                      <a:r>
                        <a:rPr lang="en-US" sz="1800" dirty="0">
                          <a:effectLst/>
                        </a:rPr>
                        <a:t>Sample size</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15000"/>
                        </a:lnSpc>
                        <a:spcBef>
                          <a:spcPts val="0"/>
                        </a:spcBef>
                        <a:spcAft>
                          <a:spcPts val="0"/>
                        </a:spcAft>
                      </a:pPr>
                      <a:r>
                        <a:rPr lang="en-US" sz="2000">
                          <a:effectLst/>
                        </a:rPr>
                        <a:t>Mean</a:t>
                      </a:r>
                      <a:endParaRPr lang="en-US"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15000"/>
                        </a:lnSpc>
                        <a:spcBef>
                          <a:spcPts val="0"/>
                        </a:spcBef>
                        <a:spcAft>
                          <a:spcPts val="0"/>
                        </a:spcAft>
                      </a:pPr>
                      <a:r>
                        <a:rPr lang="en-US" sz="2000" dirty="0">
                          <a:effectLst/>
                        </a:rPr>
                        <a:t>SD</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15000"/>
                        </a:lnSpc>
                        <a:spcBef>
                          <a:spcPts val="0"/>
                        </a:spcBef>
                        <a:spcAft>
                          <a:spcPts val="0"/>
                        </a:spcAft>
                      </a:pPr>
                      <a:r>
                        <a:rPr lang="en-US" sz="2000">
                          <a:effectLst/>
                        </a:rPr>
                        <a:t>Min.</a:t>
                      </a:r>
                      <a:endParaRPr lang="en-US"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15000"/>
                        </a:lnSpc>
                        <a:spcBef>
                          <a:spcPts val="0"/>
                        </a:spcBef>
                        <a:spcAft>
                          <a:spcPts val="0"/>
                        </a:spcAft>
                      </a:pPr>
                      <a:r>
                        <a:rPr lang="en-US" sz="2000" dirty="0">
                          <a:effectLst/>
                        </a:rPr>
                        <a:t>First Quart.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15000"/>
                        </a:lnSpc>
                        <a:spcBef>
                          <a:spcPts val="0"/>
                        </a:spcBef>
                        <a:spcAft>
                          <a:spcPts val="0"/>
                        </a:spcAft>
                      </a:pPr>
                      <a:r>
                        <a:rPr lang="en-US" sz="2000">
                          <a:effectLst/>
                        </a:rPr>
                        <a:t>Med.</a:t>
                      </a:r>
                      <a:endParaRPr lang="en-US"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15000"/>
                        </a:lnSpc>
                        <a:spcBef>
                          <a:spcPts val="0"/>
                        </a:spcBef>
                        <a:spcAft>
                          <a:spcPts val="0"/>
                        </a:spcAft>
                      </a:pPr>
                      <a:r>
                        <a:rPr lang="en-US" sz="2000">
                          <a:effectLst/>
                        </a:rPr>
                        <a:t>Third Quart.</a:t>
                      </a:r>
                      <a:endParaRPr lang="en-US"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15000"/>
                        </a:lnSpc>
                        <a:spcBef>
                          <a:spcPts val="0"/>
                        </a:spcBef>
                        <a:spcAft>
                          <a:spcPts val="0"/>
                        </a:spcAft>
                      </a:pPr>
                      <a:r>
                        <a:rPr lang="en-US" sz="2000">
                          <a:effectLst/>
                        </a:rPr>
                        <a:t>Max.</a:t>
                      </a:r>
                      <a:endParaRPr lang="en-US"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151138818"/>
                  </a:ext>
                </a:extLst>
              </a:tr>
              <a:tr h="620540">
                <a:tc>
                  <a:txBody>
                    <a:bodyPr/>
                    <a:lstStyle/>
                    <a:p>
                      <a:pPr marL="0" marR="0">
                        <a:lnSpc>
                          <a:spcPct val="115000"/>
                        </a:lnSpc>
                        <a:spcBef>
                          <a:spcPts val="0"/>
                        </a:spcBef>
                        <a:spcAft>
                          <a:spcPts val="0"/>
                        </a:spcAft>
                      </a:pPr>
                      <a:r>
                        <a:rPr lang="en-US" sz="2000" strike="noStrike" dirty="0">
                          <a:effectLst/>
                          <a:latin typeface="Calibri" panose="020F0502020204030204" pitchFamily="34" charset="0"/>
                          <a:ea typeface="Calibri" panose="020F0502020204030204" pitchFamily="34" charset="0"/>
                          <a:cs typeface="Arial" panose="020B0604020202020204" pitchFamily="34" charset="0"/>
                        </a:rPr>
                        <a:t>Ratio</a:t>
                      </a:r>
                    </a:p>
                  </a:txBody>
                  <a:tcPr marL="68580" marR="68580" marT="0" marB="0" anchor="ctr"/>
                </a:tc>
                <a:tc>
                  <a:txBody>
                    <a:bodyPr/>
                    <a:lstStyle/>
                    <a:p>
                      <a:pPr marL="0" marR="0" algn="ctr">
                        <a:lnSpc>
                          <a:spcPct val="115000"/>
                        </a:lnSpc>
                        <a:spcBef>
                          <a:spcPts val="0"/>
                        </a:spcBef>
                        <a:spcAft>
                          <a:spcPts val="0"/>
                        </a:spcAft>
                      </a:pPr>
                      <a:r>
                        <a:rPr lang="en-US" sz="2000" dirty="0">
                          <a:effectLst/>
                          <a:latin typeface="Calibri" panose="020F0502020204030204" pitchFamily="34" charset="0"/>
                          <a:ea typeface="Calibri" panose="020F0502020204030204" pitchFamily="34" charset="0"/>
                          <a:cs typeface="Arial" panose="020B0604020202020204" pitchFamily="34" charset="0"/>
                        </a:rPr>
                        <a:t>100</a:t>
                      </a:r>
                    </a:p>
                  </a:txBody>
                  <a:tcPr marL="68580" marR="68580" marT="0" marB="0" anchor="ctr"/>
                </a:tc>
                <a:tc>
                  <a:txBody>
                    <a:bodyPr/>
                    <a:lstStyle/>
                    <a:p>
                      <a:pPr marL="0" marR="0" algn="ctr">
                        <a:lnSpc>
                          <a:spcPct val="115000"/>
                        </a:lnSpc>
                        <a:spcBef>
                          <a:spcPts val="0"/>
                        </a:spcBef>
                        <a:spcAft>
                          <a:spcPts val="0"/>
                        </a:spcAft>
                      </a:pPr>
                      <a:r>
                        <a:rPr lang="en-US" sz="2000" dirty="0">
                          <a:effectLst/>
                          <a:latin typeface="Calibri" panose="020F0502020204030204" pitchFamily="34" charset="0"/>
                          <a:ea typeface="Calibri" panose="020F0502020204030204" pitchFamily="34" charset="0"/>
                          <a:cs typeface="Arial" panose="020B0604020202020204" pitchFamily="34" charset="0"/>
                        </a:rPr>
                        <a:t>0.078</a:t>
                      </a:r>
                    </a:p>
                  </a:txBody>
                  <a:tcPr marL="68580" marR="68580" marT="0" marB="0" anchor="ctr"/>
                </a:tc>
                <a:tc>
                  <a:txBody>
                    <a:bodyPr/>
                    <a:lstStyle/>
                    <a:p>
                      <a:pPr marL="0" marR="0" algn="ctr">
                        <a:lnSpc>
                          <a:spcPct val="115000"/>
                        </a:lnSpc>
                        <a:spcBef>
                          <a:spcPts val="0"/>
                        </a:spcBef>
                        <a:spcAft>
                          <a:spcPts val="0"/>
                        </a:spcAft>
                      </a:pPr>
                      <a:r>
                        <a:rPr lang="en-US" sz="2000" dirty="0">
                          <a:effectLst/>
                          <a:latin typeface="Calibri" panose="020F0502020204030204" pitchFamily="34" charset="0"/>
                          <a:ea typeface="Calibri" panose="020F0502020204030204" pitchFamily="34" charset="0"/>
                          <a:cs typeface="Arial" panose="020B0604020202020204" pitchFamily="34" charset="0"/>
                        </a:rPr>
                        <a:t>0.037</a:t>
                      </a:r>
                    </a:p>
                  </a:txBody>
                  <a:tcPr marL="68580" marR="68580" marT="0" marB="0" anchor="ctr"/>
                </a:tc>
                <a:tc>
                  <a:txBody>
                    <a:bodyPr/>
                    <a:lstStyle/>
                    <a:p>
                      <a:pPr marL="0" marR="0" algn="ctr">
                        <a:lnSpc>
                          <a:spcPct val="115000"/>
                        </a:lnSpc>
                        <a:spcBef>
                          <a:spcPts val="0"/>
                        </a:spcBef>
                        <a:spcAft>
                          <a:spcPts val="0"/>
                        </a:spcAft>
                      </a:pPr>
                      <a:r>
                        <a:rPr lang="en-US" sz="2000" dirty="0">
                          <a:effectLst/>
                          <a:latin typeface="Calibri" panose="020F0502020204030204" pitchFamily="34" charset="0"/>
                          <a:ea typeface="Calibri" panose="020F0502020204030204" pitchFamily="34" charset="0"/>
                          <a:cs typeface="Arial" panose="020B0604020202020204" pitchFamily="34" charset="0"/>
                        </a:rPr>
                        <a:t>0.016</a:t>
                      </a:r>
                    </a:p>
                  </a:txBody>
                  <a:tcPr marL="68580" marR="68580" marT="0" marB="0" anchor="ctr"/>
                </a:tc>
                <a:tc>
                  <a:txBody>
                    <a:bodyPr/>
                    <a:lstStyle/>
                    <a:p>
                      <a:pPr marL="0" marR="0" algn="ctr">
                        <a:lnSpc>
                          <a:spcPct val="115000"/>
                        </a:lnSpc>
                        <a:spcBef>
                          <a:spcPts val="0"/>
                        </a:spcBef>
                        <a:spcAft>
                          <a:spcPts val="0"/>
                        </a:spcAft>
                      </a:pPr>
                      <a:r>
                        <a:rPr lang="en-US" sz="2000" dirty="0">
                          <a:effectLst/>
                          <a:latin typeface="Calibri" panose="020F0502020204030204" pitchFamily="34" charset="0"/>
                          <a:ea typeface="Calibri" panose="020F0502020204030204" pitchFamily="34" charset="0"/>
                          <a:cs typeface="Arial" panose="020B0604020202020204" pitchFamily="34" charset="0"/>
                        </a:rPr>
                        <a:t>0.052</a:t>
                      </a:r>
                    </a:p>
                  </a:txBody>
                  <a:tcPr marL="68580" marR="68580" marT="0" marB="0" anchor="ctr"/>
                </a:tc>
                <a:tc>
                  <a:txBody>
                    <a:bodyPr/>
                    <a:lstStyle/>
                    <a:p>
                      <a:pPr marL="0" marR="0" algn="ctr">
                        <a:lnSpc>
                          <a:spcPct val="115000"/>
                        </a:lnSpc>
                        <a:spcBef>
                          <a:spcPts val="0"/>
                        </a:spcBef>
                        <a:spcAft>
                          <a:spcPts val="0"/>
                        </a:spcAft>
                      </a:pPr>
                      <a:r>
                        <a:rPr lang="en-US" sz="2000" dirty="0">
                          <a:effectLst/>
                          <a:latin typeface="Calibri" panose="020F0502020204030204" pitchFamily="34" charset="0"/>
                          <a:ea typeface="Calibri" panose="020F0502020204030204" pitchFamily="34" charset="0"/>
                          <a:cs typeface="Arial" panose="020B0604020202020204" pitchFamily="34" charset="0"/>
                        </a:rPr>
                        <a:t>0.071</a:t>
                      </a:r>
                    </a:p>
                  </a:txBody>
                  <a:tcPr marL="68580" marR="68580" marT="0" marB="0" anchor="ctr"/>
                </a:tc>
                <a:tc>
                  <a:txBody>
                    <a:bodyPr/>
                    <a:lstStyle/>
                    <a:p>
                      <a:pPr marL="0" marR="0" algn="ctr">
                        <a:lnSpc>
                          <a:spcPct val="115000"/>
                        </a:lnSpc>
                        <a:spcBef>
                          <a:spcPts val="0"/>
                        </a:spcBef>
                        <a:spcAft>
                          <a:spcPts val="0"/>
                        </a:spcAft>
                      </a:pPr>
                      <a:r>
                        <a:rPr lang="en-US" sz="2000" dirty="0">
                          <a:effectLst/>
                          <a:latin typeface="Calibri" panose="020F0502020204030204" pitchFamily="34" charset="0"/>
                          <a:ea typeface="Calibri" panose="020F0502020204030204" pitchFamily="34" charset="0"/>
                          <a:cs typeface="Arial" panose="020B0604020202020204" pitchFamily="34" charset="0"/>
                        </a:rPr>
                        <a:t>0.096</a:t>
                      </a:r>
                    </a:p>
                  </a:txBody>
                  <a:tcPr marL="68580" marR="68580" marT="0" marB="0" anchor="ctr"/>
                </a:tc>
                <a:tc>
                  <a:txBody>
                    <a:bodyPr/>
                    <a:lstStyle/>
                    <a:p>
                      <a:pPr marL="0" marR="0" algn="ctr">
                        <a:lnSpc>
                          <a:spcPct val="115000"/>
                        </a:lnSpc>
                        <a:spcBef>
                          <a:spcPts val="0"/>
                        </a:spcBef>
                        <a:spcAft>
                          <a:spcPts val="0"/>
                        </a:spcAft>
                      </a:pPr>
                      <a:r>
                        <a:rPr lang="en-US" sz="2000" dirty="0">
                          <a:effectLst/>
                          <a:latin typeface="Calibri" panose="020F0502020204030204" pitchFamily="34" charset="0"/>
                          <a:ea typeface="Calibri" panose="020F0502020204030204" pitchFamily="34" charset="0"/>
                          <a:cs typeface="Arial" panose="020B0604020202020204" pitchFamily="34" charset="0"/>
                        </a:rPr>
                        <a:t>0.181</a:t>
                      </a:r>
                    </a:p>
                  </a:txBody>
                  <a:tcPr marL="68580" marR="68580" marT="0" marB="0" anchor="ctr"/>
                </a:tc>
                <a:extLst>
                  <a:ext uri="{0D108BD9-81ED-4DB2-BD59-A6C34878D82A}">
                    <a16:rowId xmlns:a16="http://schemas.microsoft.com/office/drawing/2014/main" val="2245782186"/>
                  </a:ext>
                </a:extLst>
              </a:tr>
            </a:tbl>
          </a:graphicData>
        </a:graphic>
      </p:graphicFrame>
      <p:pic>
        <p:nvPicPr>
          <p:cNvPr id="8" name="Picture 7">
            <a:extLst>
              <a:ext uri="{FF2B5EF4-FFF2-40B4-BE49-F238E27FC236}">
                <a16:creationId xmlns:a16="http://schemas.microsoft.com/office/drawing/2014/main" id="{B25A31D2-4385-4C2A-8973-971F47A7EFF0}"/>
              </a:ext>
            </a:extLst>
          </p:cNvPr>
          <p:cNvPicPr>
            <a:picLocks noChangeAspect="1"/>
          </p:cNvPicPr>
          <p:nvPr/>
        </p:nvPicPr>
        <p:blipFill rotWithShape="1">
          <a:blip r:embed="rId2"/>
          <a:srcRect l="155" r="60345"/>
          <a:stretch/>
        </p:blipFill>
        <p:spPr>
          <a:xfrm>
            <a:off x="6629400" y="51101"/>
            <a:ext cx="1752600" cy="1549099"/>
          </a:xfrm>
          <a:prstGeom prst="rect">
            <a:avLst/>
          </a:prstGeom>
        </p:spPr>
      </p:pic>
      <p:pic>
        <p:nvPicPr>
          <p:cNvPr id="5" name="Content Placeholder 4">
            <a:extLst>
              <a:ext uri="{FF2B5EF4-FFF2-40B4-BE49-F238E27FC236}">
                <a16:creationId xmlns:a16="http://schemas.microsoft.com/office/drawing/2014/main" id="{032AAD65-3C81-4619-B14B-E424EB7F4C7A}"/>
              </a:ext>
            </a:extLst>
          </p:cNvPr>
          <p:cNvPicPr>
            <a:picLocks noGrp="1" noChangeAspect="1"/>
          </p:cNvPicPr>
          <p:nvPr>
            <p:ph idx="1"/>
          </p:nvPr>
        </p:nvPicPr>
        <p:blipFill>
          <a:blip r:embed="rId3"/>
          <a:stretch>
            <a:fillRect/>
          </a:stretch>
        </p:blipFill>
        <p:spPr>
          <a:xfrm>
            <a:off x="1143000" y="1515050"/>
            <a:ext cx="5334000" cy="2975522"/>
          </a:xfrm>
          <a:prstGeom prst="rect">
            <a:avLst/>
          </a:prstGeom>
        </p:spPr>
      </p:pic>
    </p:spTree>
    <p:extLst>
      <p:ext uri="{BB962C8B-B14F-4D97-AF65-F5344CB8AC3E}">
        <p14:creationId xmlns:p14="http://schemas.microsoft.com/office/powerpoint/2010/main" val="3206345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Results</a:t>
            </a:r>
            <a:endParaRPr lang="en-US" dirty="0"/>
          </a:p>
        </p:txBody>
      </p:sp>
      <p:sp>
        <p:nvSpPr>
          <p:cNvPr id="8" name="Content Placeholder 7">
            <a:extLst>
              <a:ext uri="{FF2B5EF4-FFF2-40B4-BE49-F238E27FC236}">
                <a16:creationId xmlns:a16="http://schemas.microsoft.com/office/drawing/2014/main" id="{BDE76846-D004-4064-9D80-89642D7A47CF}"/>
              </a:ext>
            </a:extLst>
          </p:cNvPr>
          <p:cNvSpPr>
            <a:spLocks noGrp="1"/>
          </p:cNvSpPr>
          <p:nvPr>
            <p:ph idx="1"/>
          </p:nvPr>
        </p:nvSpPr>
        <p:spPr/>
        <p:txBody>
          <a:bodyPr>
            <a:noAutofit/>
          </a:bodyPr>
          <a:lstStyle/>
          <a:p>
            <a:pPr marL="344488" indent="-223838"/>
            <a:r>
              <a:rPr lang="en-US" sz="2800" dirty="0"/>
              <a:t>The sample mean was different than 0.10 </a:t>
            </a:r>
          </a:p>
          <a:p>
            <a:pPr marL="344488" indent="-223838"/>
            <a:r>
              <a:rPr lang="en-US" sz="2800" dirty="0"/>
              <a:t>What are two possible explanations for why we observed a sample mean that was different from 0.10? </a:t>
            </a:r>
          </a:p>
          <a:p>
            <a:r>
              <a:rPr lang="en-US" dirty="0"/>
              <a:t>#1 The population mean ratio really is 0.10 and our sample mean of 0.078 from 100 students happened by random chance.</a:t>
            </a:r>
          </a:p>
          <a:p>
            <a:r>
              <a:rPr lang="en-US" dirty="0"/>
              <a:t>#2 The population mean ratio is different from 0.10 and that is why our sample mean ratio was different from 0.10.</a:t>
            </a:r>
            <a:endParaRPr lang="en-US" sz="2800" dirty="0"/>
          </a:p>
          <a:p>
            <a:endParaRPr lang="en-US" sz="2800" dirty="0"/>
          </a:p>
          <a:p>
            <a:pPr lvl="1"/>
            <a:endParaRPr lang="en-US" sz="2400" dirty="0"/>
          </a:p>
        </p:txBody>
      </p:sp>
      <p:pic>
        <p:nvPicPr>
          <p:cNvPr id="5" name="Picture 4">
            <a:extLst>
              <a:ext uri="{FF2B5EF4-FFF2-40B4-BE49-F238E27FC236}">
                <a16:creationId xmlns:a16="http://schemas.microsoft.com/office/drawing/2014/main" id="{817E575D-64BC-4FD8-9C10-0673822E3AFA}"/>
              </a:ext>
            </a:extLst>
          </p:cNvPr>
          <p:cNvPicPr>
            <a:picLocks noChangeAspect="1"/>
          </p:cNvPicPr>
          <p:nvPr/>
        </p:nvPicPr>
        <p:blipFill rotWithShape="1">
          <a:blip r:embed="rId2"/>
          <a:srcRect l="155" r="60345"/>
          <a:stretch/>
        </p:blipFill>
        <p:spPr>
          <a:xfrm>
            <a:off x="6629400" y="51101"/>
            <a:ext cx="1752600" cy="1549099"/>
          </a:xfrm>
          <a:prstGeom prst="rect">
            <a:avLst/>
          </a:prstGeom>
        </p:spPr>
      </p:pic>
    </p:spTree>
    <p:extLst>
      <p:ext uri="{BB962C8B-B14F-4D97-AF65-F5344CB8AC3E}">
        <p14:creationId xmlns:p14="http://schemas.microsoft.com/office/powerpoint/2010/main" val="112106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Step 4: Draw inferences            beyond the data</a:t>
            </a:r>
          </a:p>
        </p:txBody>
      </p:sp>
      <p:sp>
        <p:nvSpPr>
          <p:cNvPr id="8" name="Content Placeholder 7">
            <a:extLst>
              <a:ext uri="{FF2B5EF4-FFF2-40B4-BE49-F238E27FC236}">
                <a16:creationId xmlns:a16="http://schemas.microsoft.com/office/drawing/2014/main" id="{BDE76846-D004-4064-9D80-89642D7A47CF}"/>
              </a:ext>
            </a:extLst>
          </p:cNvPr>
          <p:cNvSpPr>
            <a:spLocks noGrp="1"/>
          </p:cNvSpPr>
          <p:nvPr>
            <p:ph idx="1"/>
          </p:nvPr>
        </p:nvSpPr>
        <p:spPr/>
        <p:txBody>
          <a:bodyPr>
            <a:noAutofit/>
          </a:bodyPr>
          <a:lstStyle/>
          <a:p>
            <a:r>
              <a:rPr lang="en-US" sz="2800" dirty="0"/>
              <a:t>Is it </a:t>
            </a:r>
            <a:r>
              <a:rPr lang="en-US" sz="2800" i="1" dirty="0"/>
              <a:t>possible</a:t>
            </a:r>
            <a:r>
              <a:rPr lang="en-US" sz="2800" dirty="0"/>
              <a:t> to get a mean ratio of 0.078 even if in the population the ratio is 0.10?  </a:t>
            </a:r>
          </a:p>
          <a:p>
            <a:r>
              <a:rPr lang="en-US" sz="2800" dirty="0"/>
              <a:t>Yes, it’s possible, how likely though?</a:t>
            </a:r>
          </a:p>
          <a:p>
            <a:r>
              <a:rPr lang="en-US" sz="2800" dirty="0"/>
              <a:t>Test statistic and p-value will tell how likely it is to get a mean ratio that different from 0.10. </a:t>
            </a:r>
          </a:p>
          <a:p>
            <a:endParaRPr lang="en-US" sz="2800" dirty="0"/>
          </a:p>
          <a:p>
            <a:pPr lvl="1"/>
            <a:endParaRPr lang="en-US" sz="2400" dirty="0"/>
          </a:p>
        </p:txBody>
      </p:sp>
      <p:pic>
        <p:nvPicPr>
          <p:cNvPr id="5" name="Picture 4">
            <a:extLst>
              <a:ext uri="{FF2B5EF4-FFF2-40B4-BE49-F238E27FC236}">
                <a16:creationId xmlns:a16="http://schemas.microsoft.com/office/drawing/2014/main" id="{F436AF8C-8288-4122-90B3-F8E5BCA4FE79}"/>
              </a:ext>
            </a:extLst>
          </p:cNvPr>
          <p:cNvPicPr>
            <a:picLocks noChangeAspect="1"/>
          </p:cNvPicPr>
          <p:nvPr/>
        </p:nvPicPr>
        <p:blipFill rotWithShape="1">
          <a:blip r:embed="rId2"/>
          <a:srcRect l="155" r="60345"/>
          <a:stretch/>
        </p:blipFill>
        <p:spPr>
          <a:xfrm>
            <a:off x="6629400" y="51101"/>
            <a:ext cx="1752600" cy="1549099"/>
          </a:xfrm>
          <a:prstGeom prst="rect">
            <a:avLst/>
          </a:prstGeom>
        </p:spPr>
      </p:pic>
    </p:spTree>
    <p:extLst>
      <p:ext uri="{BB962C8B-B14F-4D97-AF65-F5344CB8AC3E}">
        <p14:creationId xmlns:p14="http://schemas.microsoft.com/office/powerpoint/2010/main" val="2733552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Test Statistic</a:t>
            </a:r>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457200" y="1600200"/>
                <a:ext cx="7620000" cy="5009394"/>
              </a:xfrm>
            </p:spPr>
            <p:txBody>
              <a:bodyPr>
                <a:normAutofit fontScale="92500" lnSpcReduction="10000"/>
              </a:bodyPr>
              <a:lstStyle/>
              <a:p>
                <a:r>
                  <a:rPr lang="en-US" sz="2800" dirty="0"/>
                  <a:t>We will use a t-test to conduct a hypothesis test about a population mean. The structure, reasoning, and interpretation are the same as with all hypothesis tests.</a:t>
                </a:r>
              </a:p>
              <a:p>
                <a:r>
                  <a:rPr lang="en-US" sz="2800" dirty="0"/>
                  <a:t>Can we carry out a t-test on these data?</a:t>
                </a:r>
              </a:p>
              <a:p>
                <a:r>
                  <a:rPr lang="en-US" sz="2800" dirty="0"/>
                  <a:t>YES! Our sample size is greater than 30 and the sample data is roughly symmetric (only slightly skewed to the right)</a:t>
                </a:r>
              </a:p>
              <a:p>
                <a:pPr marL="114300"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𝑡</m:t>
                      </m:r>
                      <m:r>
                        <a:rPr lang="en-US" sz="2800" b="0" i="1" smtClean="0">
                          <a:latin typeface="Cambria Math" panose="02040503050406030204" pitchFamily="18" charset="0"/>
                        </a:rPr>
                        <m:t>= </m:t>
                      </m:r>
                      <m:f>
                        <m:fPr>
                          <m:ctrlPr>
                            <a:rPr lang="en-US" sz="2800" b="0" i="1" smtClean="0">
                              <a:latin typeface="Cambria Math" panose="02040503050406030204" pitchFamily="18" charset="0"/>
                            </a:rPr>
                          </m:ctrlPr>
                        </m:fPr>
                        <m:num>
                          <m:d>
                            <m:dPr>
                              <m:ctrlPr>
                                <a:rPr lang="en-US" sz="2800" b="0" i="1" smtClean="0">
                                  <a:latin typeface="Cambria Math" panose="02040503050406030204" pitchFamily="18" charset="0"/>
                                </a:rPr>
                              </m:ctrlPr>
                            </m:dPr>
                            <m:e>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𝑥</m:t>
                                  </m:r>
                                </m:e>
                              </m:acc>
                              <m:r>
                                <a:rPr lang="en-US" sz="2800" b="0" i="1" smtClean="0">
                                  <a:latin typeface="Cambria Math" panose="02040503050406030204" pitchFamily="18" charset="0"/>
                                </a:rPr>
                                <m:t>− µ</m:t>
                              </m:r>
                            </m:e>
                          </m:d>
                        </m:num>
                        <m:den>
                          <m:f>
                            <m:fPr>
                              <m:type m:val="skw"/>
                              <m:ctrlPr>
                                <a:rPr lang="en-US" sz="2800" b="0" i="1" smtClean="0">
                                  <a:latin typeface="Cambria Math" panose="02040503050406030204" pitchFamily="18" charset="0"/>
                                </a:rPr>
                              </m:ctrlPr>
                            </m:fPr>
                            <m:num>
                              <m:r>
                                <a:rPr lang="en-US" sz="2800" b="0" i="1" smtClean="0">
                                  <a:latin typeface="Cambria Math" panose="02040503050406030204" pitchFamily="18" charset="0"/>
                                </a:rPr>
                                <m:t>𝑠</m:t>
                              </m:r>
                            </m:num>
                            <m:den>
                              <m:rad>
                                <m:radPr>
                                  <m:degHide m:val="on"/>
                                  <m:ctrlPr>
                                    <a:rPr lang="en-US" sz="2800" b="0" i="1" smtClean="0">
                                      <a:latin typeface="Cambria Math" panose="02040503050406030204" pitchFamily="18" charset="0"/>
                                    </a:rPr>
                                  </m:ctrlPr>
                                </m:radPr>
                                <m:deg/>
                                <m:e>
                                  <m:r>
                                    <a:rPr lang="en-US" sz="2800" b="0" i="1" smtClean="0">
                                      <a:latin typeface="Cambria Math" panose="02040503050406030204" pitchFamily="18" charset="0"/>
                                    </a:rPr>
                                    <m:t>𝑛</m:t>
                                  </m:r>
                                </m:e>
                              </m:rad>
                            </m:den>
                          </m:f>
                        </m:den>
                      </m:f>
                    </m:oMath>
                  </m:oMathPara>
                </a14:m>
                <a:endParaRPr lang="en-US" sz="2800" dirty="0"/>
              </a:p>
              <a:p>
                <a:pPr marL="114300" indent="0" algn="ctr">
                  <a:buNone/>
                </a:pPr>
                <a14:m>
                  <m:oMath xmlns:m="http://schemas.openxmlformats.org/officeDocument/2006/math">
                    <m:r>
                      <a:rPr lang="en-US" sz="2800" i="1">
                        <a:latin typeface="Cambria Math" panose="02040503050406030204" pitchFamily="18" charset="0"/>
                      </a:rPr>
                      <m:t>𝑡</m:t>
                    </m:r>
                    <m:r>
                      <a:rPr lang="en-US" sz="2800" i="1">
                        <a:latin typeface="Cambria Math" panose="02040503050406030204" pitchFamily="18" charset="0"/>
                      </a:rPr>
                      <m:t>= </m:t>
                    </m:r>
                    <m:f>
                      <m:fPr>
                        <m:ctrlPr>
                          <a:rPr lang="en-US" sz="2800" i="1">
                            <a:latin typeface="Cambria Math" panose="02040503050406030204" pitchFamily="18" charset="0"/>
                          </a:rPr>
                        </m:ctrlPr>
                      </m:fPr>
                      <m:num>
                        <m:d>
                          <m:dPr>
                            <m:ctrlPr>
                              <a:rPr lang="en-US" sz="2800" i="1">
                                <a:latin typeface="Cambria Math" panose="02040503050406030204" pitchFamily="18" charset="0"/>
                              </a:rPr>
                            </m:ctrlPr>
                          </m:dPr>
                          <m:e>
                            <m:r>
                              <a:rPr lang="en-US" sz="2800" b="0" i="1" smtClean="0">
                                <a:latin typeface="Cambria Math" panose="02040503050406030204" pitchFamily="18" charset="0"/>
                              </a:rPr>
                              <m:t>0.078</m:t>
                            </m:r>
                            <m:r>
                              <a:rPr lang="en-US" sz="2800" i="1">
                                <a:latin typeface="Cambria Math" panose="02040503050406030204" pitchFamily="18" charset="0"/>
                              </a:rPr>
                              <m:t>−</m:t>
                            </m:r>
                            <m:r>
                              <a:rPr lang="en-US" sz="2800" b="0" i="1" smtClean="0">
                                <a:latin typeface="Cambria Math" panose="02040503050406030204" pitchFamily="18" charset="0"/>
                              </a:rPr>
                              <m:t>0.10</m:t>
                            </m:r>
                          </m:e>
                        </m:d>
                      </m:num>
                      <m:den>
                        <m:f>
                          <m:fPr>
                            <m:type m:val="skw"/>
                            <m:ctrlPr>
                              <a:rPr lang="en-US" sz="2800" i="1">
                                <a:latin typeface="Cambria Math" panose="02040503050406030204" pitchFamily="18" charset="0"/>
                              </a:rPr>
                            </m:ctrlPr>
                          </m:fPr>
                          <m:num>
                            <m:r>
                              <a:rPr lang="en-US" sz="2800" b="0" i="1" smtClean="0">
                                <a:latin typeface="Cambria Math" panose="02040503050406030204" pitchFamily="18" charset="0"/>
                              </a:rPr>
                              <m:t>0.037</m:t>
                            </m:r>
                          </m:num>
                          <m:den>
                            <m:rad>
                              <m:radPr>
                                <m:degHide m:val="on"/>
                                <m:ctrlPr>
                                  <a:rPr lang="en-US" sz="2800" i="1">
                                    <a:latin typeface="Cambria Math" panose="02040503050406030204" pitchFamily="18" charset="0"/>
                                  </a:rPr>
                                </m:ctrlPr>
                              </m:radPr>
                              <m:deg/>
                              <m:e>
                                <m:r>
                                  <a:rPr lang="en-US" sz="2800" b="0" i="1" smtClean="0">
                                    <a:latin typeface="Cambria Math" panose="02040503050406030204" pitchFamily="18" charset="0"/>
                                  </a:rPr>
                                  <m:t>100</m:t>
                                </m:r>
                              </m:e>
                            </m:rad>
                          </m:den>
                        </m:f>
                      </m:den>
                    </m:f>
                  </m:oMath>
                </a14:m>
                <a:r>
                  <a:rPr lang="en-US" sz="2800" dirty="0"/>
                  <a:t>    = -5.946</a:t>
                </a:r>
              </a:p>
              <a:p>
                <a:pPr marL="114300" indent="0">
                  <a:buNone/>
                </a:pPr>
                <a:endParaRPr lang="en-US" sz="2800"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457200" y="1600200"/>
                <a:ext cx="7620000" cy="5009394"/>
              </a:xfrm>
              <a:blipFill>
                <a:blip r:embed="rId2"/>
                <a:stretch>
                  <a:fillRect t="-1949"/>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626D9F3D-85C3-4CA7-82FE-CA659B257C73}"/>
              </a:ext>
            </a:extLst>
          </p:cNvPr>
          <p:cNvPicPr>
            <a:picLocks noChangeAspect="1"/>
          </p:cNvPicPr>
          <p:nvPr/>
        </p:nvPicPr>
        <p:blipFill rotWithShape="1">
          <a:blip r:embed="rId3"/>
          <a:srcRect l="155" r="60345"/>
          <a:stretch/>
        </p:blipFill>
        <p:spPr>
          <a:xfrm>
            <a:off x="6629400" y="51101"/>
            <a:ext cx="1752600" cy="1549099"/>
          </a:xfrm>
          <a:prstGeom prst="rect">
            <a:avLst/>
          </a:prstGeom>
        </p:spPr>
      </p:pic>
    </p:spTree>
    <p:extLst>
      <p:ext uri="{BB962C8B-B14F-4D97-AF65-F5344CB8AC3E}">
        <p14:creationId xmlns:p14="http://schemas.microsoft.com/office/powerpoint/2010/main" val="3430048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86E55-F138-847C-AB74-5A4F4B28A061}"/>
              </a:ext>
            </a:extLst>
          </p:cNvPr>
          <p:cNvSpPr>
            <a:spLocks noGrp="1"/>
          </p:cNvSpPr>
          <p:nvPr>
            <p:ph type="title"/>
          </p:nvPr>
        </p:nvSpPr>
        <p:spPr/>
        <p:txBody>
          <a:bodyPr/>
          <a:lstStyle/>
          <a:p>
            <a:r>
              <a:rPr lang="en-US" dirty="0"/>
              <a:t>How to Find p-value?</a:t>
            </a:r>
          </a:p>
        </p:txBody>
      </p:sp>
      <p:sp>
        <p:nvSpPr>
          <p:cNvPr id="3" name="Content Placeholder 2">
            <a:extLst>
              <a:ext uri="{FF2B5EF4-FFF2-40B4-BE49-F238E27FC236}">
                <a16:creationId xmlns:a16="http://schemas.microsoft.com/office/drawing/2014/main" id="{DCAB92AF-C3A1-9D4B-EEBB-6C3E69799E9F}"/>
              </a:ext>
            </a:extLst>
          </p:cNvPr>
          <p:cNvSpPr>
            <a:spLocks noGrp="1"/>
          </p:cNvSpPr>
          <p:nvPr>
            <p:ph idx="1"/>
          </p:nvPr>
        </p:nvSpPr>
        <p:spPr/>
        <p:txBody>
          <a:bodyPr/>
          <a:lstStyle/>
          <a:p>
            <a:r>
              <a:rPr lang="en-US" dirty="0"/>
              <a:t>Let’s use the </a:t>
            </a:r>
            <a:r>
              <a:rPr lang="en-US" dirty="0">
                <a:hlinkClick r:id="rId2"/>
              </a:rPr>
              <a:t>applet</a:t>
            </a:r>
            <a:r>
              <a:rPr lang="en-US" dirty="0"/>
              <a:t> to find the p-value.</a:t>
            </a:r>
          </a:p>
          <a:p>
            <a:r>
              <a:rPr lang="en-US" dirty="0"/>
              <a:t>Very small p-value. Reject Ho.</a:t>
            </a:r>
          </a:p>
        </p:txBody>
      </p:sp>
    </p:spTree>
    <p:extLst>
      <p:ext uri="{BB962C8B-B14F-4D97-AF65-F5344CB8AC3E}">
        <p14:creationId xmlns:p14="http://schemas.microsoft.com/office/powerpoint/2010/main" val="284550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effectLst/>
              </a:rPr>
              <a:t>Confidence </a:t>
            </a:r>
            <a:r>
              <a:rPr lang="en-US" dirty="0"/>
              <a:t>Interval</a:t>
            </a:r>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457200" y="1600200"/>
                <a:ext cx="7772400" cy="5009394"/>
              </a:xfrm>
            </p:spPr>
            <p:txBody>
              <a:bodyPr>
                <a:normAutofit fontScale="92500" lnSpcReduction="10000"/>
              </a:bodyPr>
              <a:lstStyle/>
              <a:p>
                <a:pPr marL="457200" indent="-457200"/>
                <a:r>
                  <a:rPr lang="en-US" sz="2800" dirty="0"/>
                  <a:t>We also see that an approximate 95% confidence interval for the mean ratio is: </a:t>
                </a:r>
              </a:p>
              <a:p>
                <a:pPr marL="457200" indent="-457200"/>
                <a:endParaRPr lang="en-US" sz="1300" dirty="0"/>
              </a:p>
              <a:p>
                <a:pPr marL="0" indent="0" algn="ctr">
                  <a:buNone/>
                </a:pPr>
                <a14:m>
                  <m:oMath xmlns:m="http://schemas.openxmlformats.org/officeDocument/2006/math">
                    <m:r>
                      <a:rPr lang="en-US" sz="2800" i="1">
                        <a:latin typeface="Cambria Math" panose="02040503050406030204" pitchFamily="18" charset="0"/>
                        <a:ea typeface="Cambria Math" panose="02040503050406030204" pitchFamily="18" charset="0"/>
                      </a:rPr>
                      <m:t>0</m:t>
                    </m:r>
                    <m:r>
                      <a:rPr lang="en-US" sz="2800" b="0" i="1" smtClean="0">
                        <a:latin typeface="Cambria Math" panose="02040503050406030204" pitchFamily="18" charset="0"/>
                        <a:ea typeface="Cambria Math" panose="02040503050406030204" pitchFamily="18" charset="0"/>
                      </a:rPr>
                      <m:t>.078±2</m:t>
                    </m:r>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0.004</m:t>
                        </m:r>
                      </m:e>
                    </m:d>
                  </m:oMath>
                </a14:m>
                <a:r>
                  <a:rPr lang="en-US" sz="2800" dirty="0"/>
                  <a:t> or about 0.071 to 0.085</a:t>
                </a:r>
              </a:p>
              <a:p>
                <a:pPr marL="0" indent="0" algn="ctr">
                  <a:buNone/>
                </a:pPr>
                <a:endParaRPr lang="en-US" sz="1300" dirty="0"/>
              </a:p>
              <a:p>
                <a:pPr marL="457200" indent="-457200"/>
                <a:r>
                  <a:rPr lang="en-US" sz="2800" dirty="0"/>
                  <a:t>This means we are 95% confident that the mean ratio of backpack weight to body weight is between 0.071 to 0.085 </a:t>
                </a:r>
              </a:p>
              <a:p>
                <a:pPr marL="457200" indent="-457200"/>
                <a:r>
                  <a:rPr lang="en-US" sz="2800" dirty="0"/>
                  <a:t>This means that university students at this university in California carry backpacks that on average are between 7.1% to 8.5% of their total body weight</a:t>
                </a:r>
              </a:p>
              <a:p>
                <a:pPr marL="457200" indent="-457200"/>
                <a:r>
                  <a:rPr lang="en-US" sz="2800" dirty="0"/>
                  <a:t>What does it mean for the entire interval to be below 0.10 (below 10%)?</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457200" y="1600200"/>
                <a:ext cx="7772400" cy="5009394"/>
              </a:xfrm>
              <a:blipFill>
                <a:blip r:embed="rId2"/>
                <a:stretch>
                  <a:fillRect l="-1176" t="-1949" r="-1020"/>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79044F31-B502-4362-8586-2D8C7BE77A5F}"/>
              </a:ext>
            </a:extLst>
          </p:cNvPr>
          <p:cNvPicPr>
            <a:picLocks noChangeAspect="1"/>
          </p:cNvPicPr>
          <p:nvPr/>
        </p:nvPicPr>
        <p:blipFill rotWithShape="1">
          <a:blip r:embed="rId3"/>
          <a:srcRect l="155" r="60345"/>
          <a:stretch/>
        </p:blipFill>
        <p:spPr>
          <a:xfrm>
            <a:off x="6629400" y="51101"/>
            <a:ext cx="1752600" cy="1549099"/>
          </a:xfrm>
          <a:prstGeom prst="rect">
            <a:avLst/>
          </a:prstGeom>
        </p:spPr>
      </p:pic>
    </p:spTree>
    <p:extLst>
      <p:ext uri="{BB962C8B-B14F-4D97-AF65-F5344CB8AC3E}">
        <p14:creationId xmlns:p14="http://schemas.microsoft.com/office/powerpoint/2010/main" val="3279719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Step 5: Formulate </a:t>
            </a:r>
            <a:br>
              <a:rPr lang="en-US" dirty="0"/>
            </a:br>
            <a:r>
              <a:rPr lang="en-US" dirty="0"/>
              <a:t>Conclusions</a:t>
            </a:r>
          </a:p>
        </p:txBody>
      </p:sp>
      <p:sp>
        <p:nvSpPr>
          <p:cNvPr id="2" name="Content Placeholder 1"/>
          <p:cNvSpPr>
            <a:spLocks noGrp="1"/>
          </p:cNvSpPr>
          <p:nvPr>
            <p:ph idx="1"/>
          </p:nvPr>
        </p:nvSpPr>
        <p:spPr>
          <a:xfrm>
            <a:off x="457200" y="1443870"/>
            <a:ext cx="7772400" cy="5009394"/>
          </a:xfrm>
        </p:spPr>
        <p:txBody>
          <a:bodyPr>
            <a:normAutofit fontScale="92500" lnSpcReduction="20000"/>
          </a:bodyPr>
          <a:lstStyle/>
          <a:p>
            <a:pPr marL="0" indent="0">
              <a:buNone/>
            </a:pPr>
            <a:r>
              <a:rPr lang="en-US" sz="2800" dirty="0"/>
              <a:t>Was the sample randomly selected from a larger population? </a:t>
            </a:r>
          </a:p>
          <a:p>
            <a:pPr marL="457200" indent="-457200"/>
            <a:r>
              <a:rPr lang="en-US" sz="2800" dirty="0"/>
              <a:t>No, the sample was not randomly sampled from a larger population of university students. However, if you believe that university students in California are not different in their body composition or the amount of weight they carry in their backpacks compared to other university/college students across the US, then we can generalize to all college/university students in the US.</a:t>
            </a:r>
          </a:p>
          <a:p>
            <a:pPr marL="0" indent="0">
              <a:buNone/>
            </a:pPr>
            <a:r>
              <a:rPr lang="en-US" sz="2800" dirty="0"/>
              <a:t>Were the observational units randomly assigned to treatments?</a:t>
            </a:r>
          </a:p>
          <a:p>
            <a:pPr marL="457200" indent="-457200"/>
            <a:r>
              <a:rPr lang="en-US" sz="2800" dirty="0"/>
              <a:t>No, there was no random assignment in this study, so we cannot make any causal conclusions.</a:t>
            </a:r>
          </a:p>
        </p:txBody>
      </p:sp>
      <p:pic>
        <p:nvPicPr>
          <p:cNvPr id="6" name="Picture 5">
            <a:extLst>
              <a:ext uri="{FF2B5EF4-FFF2-40B4-BE49-F238E27FC236}">
                <a16:creationId xmlns:a16="http://schemas.microsoft.com/office/drawing/2014/main" id="{EA4D129F-0C2D-47B8-83A2-D28977A95905}"/>
              </a:ext>
            </a:extLst>
          </p:cNvPr>
          <p:cNvPicPr>
            <a:picLocks noChangeAspect="1"/>
          </p:cNvPicPr>
          <p:nvPr/>
        </p:nvPicPr>
        <p:blipFill rotWithShape="1">
          <a:blip r:embed="rId2"/>
          <a:srcRect l="155" r="60345"/>
          <a:stretch/>
        </p:blipFill>
        <p:spPr>
          <a:xfrm>
            <a:off x="6781800" y="51101"/>
            <a:ext cx="1600200" cy="1414395"/>
          </a:xfrm>
          <a:prstGeom prst="rect">
            <a:avLst/>
          </a:prstGeom>
        </p:spPr>
      </p:pic>
    </p:spTree>
    <p:extLst>
      <p:ext uri="{BB962C8B-B14F-4D97-AF65-F5344CB8AC3E}">
        <p14:creationId xmlns:p14="http://schemas.microsoft.com/office/powerpoint/2010/main" val="2782797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effectLst/>
              </a:rPr>
              <a:t>Conclusions</a:t>
            </a:r>
            <a:endParaRPr lang="en-US" dirty="0"/>
          </a:p>
        </p:txBody>
      </p:sp>
      <p:sp>
        <p:nvSpPr>
          <p:cNvPr id="2" name="Content Placeholder 1"/>
          <p:cNvSpPr>
            <a:spLocks noGrp="1"/>
          </p:cNvSpPr>
          <p:nvPr>
            <p:ph idx="1"/>
          </p:nvPr>
        </p:nvSpPr>
        <p:spPr>
          <a:xfrm>
            <a:off x="457200" y="1600200"/>
            <a:ext cx="7772400" cy="4853064"/>
          </a:xfrm>
        </p:spPr>
        <p:txBody>
          <a:bodyPr>
            <a:normAutofit fontScale="92500"/>
          </a:bodyPr>
          <a:lstStyle/>
          <a:p>
            <a:pPr marL="457200" indent="-457200"/>
            <a:r>
              <a:rPr lang="en-US" sz="2800" dirty="0"/>
              <a:t>While we have strong evidence that the mean ratio is different from 0.10 (10%), is the difference impressive? </a:t>
            </a:r>
          </a:p>
          <a:p>
            <a:pPr marL="457200" indent="-457200"/>
            <a:r>
              <a:rPr lang="en-US" sz="2800" dirty="0"/>
              <a:t>Recall that for children in elementary school and secondary school, pediatric surgeons recommended that the ratio of backpack weight to body weight not exceed 10% to 15%. </a:t>
            </a:r>
          </a:p>
          <a:p>
            <a:pPr marL="457200" indent="-457200"/>
            <a:r>
              <a:rPr lang="en-US" sz="2800" dirty="0"/>
              <a:t>The average ratio of 0.08 (7.8%) is well below this recommendation.</a:t>
            </a:r>
          </a:p>
          <a:p>
            <a:pPr marL="457200" indent="-457200"/>
            <a:r>
              <a:rPr lang="en-US" sz="2800" dirty="0"/>
              <a:t>It does seem that college/university students are carrying more reasonable weights in their backpacks.</a:t>
            </a:r>
          </a:p>
        </p:txBody>
      </p:sp>
      <p:pic>
        <p:nvPicPr>
          <p:cNvPr id="6" name="Picture 5">
            <a:extLst>
              <a:ext uri="{FF2B5EF4-FFF2-40B4-BE49-F238E27FC236}">
                <a16:creationId xmlns:a16="http://schemas.microsoft.com/office/drawing/2014/main" id="{7978B607-39FF-4574-9923-F75DC687D9DB}"/>
              </a:ext>
            </a:extLst>
          </p:cNvPr>
          <p:cNvPicPr>
            <a:picLocks noChangeAspect="1"/>
          </p:cNvPicPr>
          <p:nvPr/>
        </p:nvPicPr>
        <p:blipFill rotWithShape="1">
          <a:blip r:embed="rId2"/>
          <a:srcRect l="155" r="60345"/>
          <a:stretch/>
        </p:blipFill>
        <p:spPr>
          <a:xfrm>
            <a:off x="6629400" y="51101"/>
            <a:ext cx="1752600" cy="1549099"/>
          </a:xfrm>
          <a:prstGeom prst="rect">
            <a:avLst/>
          </a:prstGeom>
        </p:spPr>
      </p:pic>
    </p:spTree>
    <p:extLst>
      <p:ext uri="{BB962C8B-B14F-4D97-AF65-F5344CB8AC3E}">
        <p14:creationId xmlns:p14="http://schemas.microsoft.com/office/powerpoint/2010/main" val="25667198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Step 6: Look back and </a:t>
            </a:r>
            <a:br>
              <a:rPr lang="en-US" dirty="0"/>
            </a:br>
            <a:r>
              <a:rPr lang="en-US" dirty="0"/>
              <a:t>ahead</a:t>
            </a:r>
          </a:p>
        </p:txBody>
      </p:sp>
      <p:sp>
        <p:nvSpPr>
          <p:cNvPr id="2" name="Content Placeholder 1"/>
          <p:cNvSpPr>
            <a:spLocks noGrp="1"/>
          </p:cNvSpPr>
          <p:nvPr>
            <p:ph idx="1"/>
          </p:nvPr>
        </p:nvSpPr>
        <p:spPr>
          <a:xfrm>
            <a:off x="457200" y="1600200"/>
            <a:ext cx="7772400" cy="4853064"/>
          </a:xfrm>
        </p:spPr>
        <p:txBody>
          <a:bodyPr>
            <a:normAutofit lnSpcReduction="10000"/>
          </a:bodyPr>
          <a:lstStyle/>
          <a:p>
            <a:pPr marL="457200" indent="-457200"/>
            <a:r>
              <a:rPr lang="en-US" sz="2800" dirty="0"/>
              <a:t>Looking back: </a:t>
            </a:r>
            <a:r>
              <a:rPr lang="en-US" dirty="0"/>
              <a:t>Did anything about the design and conclusions of this study concern you? In particular, are there things that could have been done to give a better chance finding strong evidence of a true difference between the two groups? </a:t>
            </a:r>
          </a:p>
          <a:p>
            <a:pPr marL="754380" lvl="1" indent="-457200"/>
            <a:r>
              <a:rPr lang="en-US" dirty="0"/>
              <a:t>Always nice to have a larger sample size. A random sample. Researchers should try to replicate their results. These replicated studies could be at different colleges/universities across the U.S.</a:t>
            </a:r>
          </a:p>
          <a:p>
            <a:pPr marL="457200" indent="-457200"/>
            <a:r>
              <a:rPr lang="en-US" sz="2800" dirty="0"/>
              <a:t>Looking ahead: </a:t>
            </a:r>
            <a:r>
              <a:rPr lang="en-US" dirty="0"/>
              <a:t>What should the researchers’ next steps be to fix the limitations or build on this knowledge? </a:t>
            </a:r>
          </a:p>
          <a:p>
            <a:pPr marL="754380" lvl="1" indent="-457200"/>
            <a:r>
              <a:rPr lang="en-US" dirty="0"/>
              <a:t>See if these results hold when other variables are looked at. For example do these ratios hold within subpopulations like males and females, or between different majors. Could backpack weights be decreasing due to e-books (all books on one laptop).</a:t>
            </a:r>
          </a:p>
          <a:p>
            <a:pPr marL="457200" indent="-457200"/>
            <a:endParaRPr lang="en-US" sz="2800" dirty="0"/>
          </a:p>
        </p:txBody>
      </p:sp>
      <p:pic>
        <p:nvPicPr>
          <p:cNvPr id="6" name="Picture 5">
            <a:extLst>
              <a:ext uri="{FF2B5EF4-FFF2-40B4-BE49-F238E27FC236}">
                <a16:creationId xmlns:a16="http://schemas.microsoft.com/office/drawing/2014/main" id="{7DDA44C5-3FC5-470C-A949-4E897B4C59F7}"/>
              </a:ext>
            </a:extLst>
          </p:cNvPr>
          <p:cNvPicPr>
            <a:picLocks noChangeAspect="1"/>
          </p:cNvPicPr>
          <p:nvPr/>
        </p:nvPicPr>
        <p:blipFill rotWithShape="1">
          <a:blip r:embed="rId2"/>
          <a:srcRect l="155" r="60345"/>
          <a:stretch/>
        </p:blipFill>
        <p:spPr>
          <a:xfrm>
            <a:off x="6629400" y="51101"/>
            <a:ext cx="1752600" cy="1549099"/>
          </a:xfrm>
          <a:prstGeom prst="rect">
            <a:avLst/>
          </a:prstGeom>
        </p:spPr>
      </p:pic>
    </p:spTree>
    <p:extLst>
      <p:ext uri="{BB962C8B-B14F-4D97-AF65-F5344CB8AC3E}">
        <p14:creationId xmlns:p14="http://schemas.microsoft.com/office/powerpoint/2010/main" val="626628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Custom 5">
      <a:dk1>
        <a:sysClr val="windowText" lastClr="000000"/>
      </a:dk1>
      <a:lt1>
        <a:sysClr val="window" lastClr="FFFFFF"/>
      </a:lt1>
      <a:dk2>
        <a:srgbClr val="1F497D"/>
      </a:dk2>
      <a:lt2>
        <a:srgbClr val="EEECE1"/>
      </a:lt2>
      <a:accent1>
        <a:srgbClr val="F79646"/>
      </a:accent1>
      <a:accent2>
        <a:srgbClr val="C0504D"/>
      </a:accent2>
      <a:accent3>
        <a:srgbClr val="FF0000"/>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25557</TotalTime>
  <Words>1269</Words>
  <Application>Microsoft Office PowerPoint</Application>
  <PresentationFormat>On-screen Show (4:3)</PresentationFormat>
  <Paragraphs>122</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Cambria</vt:lpstr>
      <vt:lpstr>Cambria Math</vt:lpstr>
      <vt:lpstr>Verdana</vt:lpstr>
      <vt:lpstr>Adjacency</vt:lpstr>
      <vt:lpstr>Week 5 Lecture 3</vt:lpstr>
      <vt:lpstr>PowerPoint Presentation</vt:lpstr>
      <vt:lpstr>PowerPoint Presentation</vt:lpstr>
      <vt:lpstr>Backpack Weights</vt:lpstr>
      <vt:lpstr>Backpack Weights</vt:lpstr>
      <vt:lpstr>Backpack Weights</vt:lpstr>
      <vt:lpstr>Backpack Weights</vt:lpstr>
      <vt:lpstr>Backpack Weights</vt:lpstr>
      <vt:lpstr>Backpack Weights</vt:lpstr>
      <vt:lpstr>Hypotheses</vt:lpstr>
      <vt:lpstr>Parameters</vt:lpstr>
      <vt:lpstr>Hypotheses</vt:lpstr>
      <vt:lpstr>Hypotheses</vt:lpstr>
      <vt:lpstr>Step 3: Explore the data</vt:lpstr>
      <vt:lpstr>Results</vt:lpstr>
      <vt:lpstr>Step 4: Draw inferences            beyond the data</vt:lpstr>
      <vt:lpstr>Test Statistic</vt:lpstr>
      <vt:lpstr>How to Find p-value?</vt:lpstr>
      <vt:lpstr>Confidence Interval</vt:lpstr>
      <vt:lpstr>Step 5: Formulate  Conclusions</vt:lpstr>
      <vt:lpstr>Conclusions</vt:lpstr>
      <vt:lpstr>Step 6: Look back and  ahead</vt:lpstr>
    </vt:vector>
  </TitlesOfParts>
  <Company>Hope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ISI Chap 6</dc:title>
  <dc:creator>Todd Swanson</dc:creator>
  <cp:lastModifiedBy>Sinem Demirci</cp:lastModifiedBy>
  <cp:revision>309</cp:revision>
  <cp:lastPrinted>2013-02-26T15:53:14Z</cp:lastPrinted>
  <dcterms:created xsi:type="dcterms:W3CDTF">2009-05-21T13:54:02Z</dcterms:created>
  <dcterms:modified xsi:type="dcterms:W3CDTF">2026-02-04T05:32:46Z</dcterms:modified>
</cp:coreProperties>
</file>